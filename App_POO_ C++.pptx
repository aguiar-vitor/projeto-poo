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8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embeddedFontLst>
    <p:embeddedFont>
      <p:font typeface="Urbanist" panose="020B0604020202020204" charset="0"/>
      <p:regular r:id="rId15"/>
      <p:bold r:id="rId16"/>
      <p:italic r:id="rId17"/>
      <p:boldItalic r:id="rId18"/>
    </p:embeddedFont>
    <p:embeddedFont>
      <p:font typeface="Urbanist Medium" panose="020B0604020202020204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47BDFCB-5731-4457-81EC-8861598AB319}">
  <a:tblStyle styleId="{D47BDFCB-5731-4457-81EC-8861598AB319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43" y="-5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" name="Google Shape;24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4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1705451" y="2413337"/>
            <a:ext cx="8781097" cy="2031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Programação</a:t>
            </a:r>
            <a:r>
              <a:rPr lang="en-US" sz="600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6000" b="1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Orientada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600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a </a:t>
            </a:r>
            <a:r>
              <a:rPr lang="en-US" sz="6000" b="1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Objetos</a:t>
            </a:r>
            <a:r>
              <a:rPr lang="en-US" sz="600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6000" b="1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em</a:t>
            </a:r>
            <a:r>
              <a:rPr lang="en-US" sz="600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6000" b="1" i="0" u="none" strike="noStrike" cap="none" dirty="0">
                <a:solidFill>
                  <a:srgbClr val="00D4FF"/>
                </a:solidFill>
                <a:latin typeface="Urbanist"/>
                <a:ea typeface="Urbanist"/>
                <a:cs typeface="Urbanist"/>
                <a:sym typeface="Urbanist"/>
              </a:rPr>
              <a:t>C++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4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2F7A285F-5749-5B69-EE92-083DCBCD48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414"/>
          <a:stretch>
            <a:fillRect/>
          </a:stretch>
        </p:blipFill>
        <p:spPr>
          <a:xfrm>
            <a:off x="1538287" y="2195512"/>
            <a:ext cx="3400209" cy="3333750"/>
          </a:xfrm>
          <a:prstGeom prst="rect">
            <a:avLst/>
          </a:prstGeom>
        </p:spPr>
      </p:pic>
      <p:sp>
        <p:nvSpPr>
          <p:cNvPr id="94" name="Google Shape;94;p14"/>
          <p:cNvSpPr txBox="1"/>
          <p:nvPr/>
        </p:nvSpPr>
        <p:spPr>
          <a:xfrm>
            <a:off x="6381750" y="2700337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D4FF"/>
                </a:solidFill>
                <a:latin typeface="Urbanist"/>
                <a:ea typeface="Urbanist"/>
                <a:cs typeface="Urbanist"/>
                <a:sym typeface="Urbanist"/>
              </a:rPr>
              <a:t>Bjarne Stroustrup (Bell Labs)</a:t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6381750" y="3167062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Concebido no final da década de 1970 em Nova Jersey. A visão era estender o C com recursos de abstração de alto nível para lidar com a complexidade de sistemas distribuídos.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6381750" y="4271962"/>
            <a:ext cx="52292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>
                <a:solidFill>
                  <a:srgbClr val="00D4FF"/>
                </a:solidFill>
                <a:latin typeface="Urbanist"/>
                <a:ea typeface="Urbanist"/>
                <a:cs typeface="Urbanist"/>
                <a:sym typeface="Urbanist"/>
              </a:rPr>
              <a:t>"Eu queria construir um sistema multi-computador com um sistema de comunicação."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771525" y="581025"/>
            <a:ext cx="11381422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0" i="0" u="none" strike="noStrike" cap="none">
                <a:solidFill>
                  <a:srgbClr val="F8FAFC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O CRIADOR E A ORIGEM</a:t>
            </a:r>
            <a:endParaRPr/>
          </a:p>
        </p:txBody>
      </p:sp>
      <p:sp>
        <p:nvSpPr>
          <p:cNvPr id="99" name="Google Shape;99;p14"/>
          <p:cNvSpPr/>
          <p:nvPr/>
        </p:nvSpPr>
        <p:spPr>
          <a:xfrm>
            <a:off x="581025" y="581025"/>
            <a:ext cx="47625" cy="485775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4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312640"/>
            <a:ext cx="5372100" cy="2209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38875" y="2312640"/>
            <a:ext cx="5372100" cy="22098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5"/>
          <p:cNvSpPr txBox="1"/>
          <p:nvPr/>
        </p:nvSpPr>
        <p:spPr>
          <a:xfrm>
            <a:off x="581025" y="4903440"/>
            <a:ext cx="1102995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O C++ não substituiu o C, ele o evoluiu integrando POO e performance.</a:t>
            </a:r>
            <a:endParaRPr/>
          </a:p>
        </p:txBody>
      </p:sp>
      <p:sp>
        <p:nvSpPr>
          <p:cNvPr id="108" name="Google Shape;108;p15"/>
          <p:cNvSpPr txBox="1"/>
          <p:nvPr/>
        </p:nvSpPr>
        <p:spPr>
          <a:xfrm>
            <a:off x="923925" y="2655540"/>
            <a:ext cx="4920615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D4FF"/>
                </a:solidFill>
                <a:latin typeface="Urbanist"/>
                <a:ea typeface="Urbanist"/>
                <a:cs typeface="Urbanist"/>
                <a:sym typeface="Urbanist"/>
              </a:rPr>
              <a:t>Camada de Abstração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923925" y="3122265"/>
            <a:ext cx="46863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Influenciada pela linguagem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Simula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. Fornece a organização de sistemas complexos através de objetos e classes.</a:t>
            </a:r>
            <a:endParaRPr/>
          </a:p>
        </p:txBody>
      </p:sp>
      <p:sp>
        <p:nvSpPr>
          <p:cNvPr id="110" name="Google Shape;110;p15"/>
          <p:cNvSpPr txBox="1"/>
          <p:nvPr/>
        </p:nvSpPr>
        <p:spPr>
          <a:xfrm>
            <a:off x="6581775" y="2655540"/>
            <a:ext cx="4920615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D4FF"/>
                </a:solidFill>
                <a:latin typeface="Urbanist"/>
                <a:ea typeface="Urbanist"/>
                <a:cs typeface="Urbanist"/>
                <a:sym typeface="Urbanist"/>
              </a:rPr>
              <a:t>Camada de Eficiência</a:t>
            </a:r>
            <a:endParaRPr/>
          </a:p>
        </p:txBody>
      </p:sp>
      <p:sp>
        <p:nvSpPr>
          <p:cNvPr id="111" name="Google Shape;111;p15"/>
          <p:cNvSpPr txBox="1"/>
          <p:nvPr/>
        </p:nvSpPr>
        <p:spPr>
          <a:xfrm>
            <a:off x="6581775" y="3122265"/>
            <a:ext cx="46863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Mantém a base da linguagem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C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. Garante a execução próxima ao hardware e a velocidade necessária para sistemas de baixo nível.</a:t>
            </a:r>
            <a:endParaRPr/>
          </a:p>
        </p:txBody>
      </p:sp>
      <p:sp>
        <p:nvSpPr>
          <p:cNvPr id="112" name="Google Shape;112;p15"/>
          <p:cNvSpPr txBox="1"/>
          <p:nvPr/>
        </p:nvSpPr>
        <p:spPr>
          <a:xfrm>
            <a:off x="771525" y="581025"/>
            <a:ext cx="11381422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0" i="0" u="none" strike="noStrike" cap="none">
                <a:solidFill>
                  <a:srgbClr val="F8FAFC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A SÍNTESE DE PARADIGMAS</a:t>
            </a:r>
            <a:endParaRPr/>
          </a:p>
        </p:txBody>
      </p:sp>
      <p:sp>
        <p:nvSpPr>
          <p:cNvPr id="113" name="Google Shape;113;p15"/>
          <p:cNvSpPr/>
          <p:nvPr/>
        </p:nvSpPr>
        <p:spPr>
          <a:xfrm>
            <a:off x="581025" y="581025"/>
            <a:ext cx="47625" cy="485775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4"/>
        </a:solidFill>
        <a:effectLst/>
      </p:bgPr>
    </p:bg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6"/>
          <p:cNvSpPr/>
          <p:nvPr/>
        </p:nvSpPr>
        <p:spPr>
          <a:xfrm>
            <a:off x="581025" y="3862387"/>
            <a:ext cx="11029950" cy="190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6"/>
          <p:cNvSpPr txBox="1"/>
          <p:nvPr/>
        </p:nvSpPr>
        <p:spPr>
          <a:xfrm>
            <a:off x="520362" y="2909887"/>
            <a:ext cx="2547818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D4FF"/>
                </a:solidFill>
                <a:latin typeface="Urbanist"/>
                <a:ea typeface="Urbanist"/>
                <a:cs typeface="Urbanist"/>
                <a:sym typeface="Urbanist"/>
              </a:rPr>
              <a:t>1979</a:t>
            </a:r>
            <a:endParaRPr/>
          </a:p>
        </p:txBody>
      </p:sp>
      <p:sp>
        <p:nvSpPr>
          <p:cNvPr id="121" name="Google Shape;121;p16"/>
          <p:cNvSpPr txBox="1"/>
          <p:nvPr/>
        </p:nvSpPr>
        <p:spPr>
          <a:xfrm>
            <a:off x="581025" y="4233862"/>
            <a:ext cx="2426493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C with Classes: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Início do projeto unindo a eficiência do C com o Simula.</a:t>
            </a:r>
            <a:endParaRPr/>
          </a:p>
        </p:txBody>
      </p:sp>
      <p:sp>
        <p:nvSpPr>
          <p:cNvPr id="122" name="Google Shape;122;p16"/>
          <p:cNvSpPr txBox="1"/>
          <p:nvPr/>
        </p:nvSpPr>
        <p:spPr>
          <a:xfrm>
            <a:off x="3388131" y="2909887"/>
            <a:ext cx="2547818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D4FF"/>
                </a:solidFill>
                <a:latin typeface="Urbanist"/>
                <a:ea typeface="Urbanist"/>
                <a:cs typeface="Urbanist"/>
                <a:sym typeface="Urbanist"/>
              </a:rPr>
              <a:t>1983</a:t>
            </a:r>
            <a:endParaRPr/>
          </a:p>
        </p:txBody>
      </p:sp>
      <p:sp>
        <p:nvSpPr>
          <p:cNvPr id="123" name="Google Shape;123;p16"/>
          <p:cNvSpPr txBox="1"/>
          <p:nvPr/>
        </p:nvSpPr>
        <p:spPr>
          <a:xfrm>
            <a:off x="3448794" y="4233862"/>
            <a:ext cx="2426493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O Batismo (C++):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Rick Mascitti sugere o nome (operador de incremento).</a:t>
            </a:r>
            <a:endParaRPr/>
          </a:p>
        </p:txBody>
      </p:sp>
      <p:sp>
        <p:nvSpPr>
          <p:cNvPr id="124" name="Google Shape;124;p16"/>
          <p:cNvSpPr txBox="1"/>
          <p:nvPr/>
        </p:nvSpPr>
        <p:spPr>
          <a:xfrm>
            <a:off x="6255900" y="2909887"/>
            <a:ext cx="2547818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D4FF"/>
                </a:solidFill>
                <a:latin typeface="Urbanist"/>
                <a:ea typeface="Urbanist"/>
                <a:cs typeface="Urbanist"/>
                <a:sym typeface="Urbanist"/>
              </a:rPr>
              <a:t>1985</a:t>
            </a:r>
            <a:endParaRPr/>
          </a:p>
        </p:txBody>
      </p:sp>
      <p:sp>
        <p:nvSpPr>
          <p:cNvPr id="125" name="Google Shape;125;p16"/>
          <p:cNvSpPr txBox="1"/>
          <p:nvPr/>
        </p:nvSpPr>
        <p:spPr>
          <a:xfrm>
            <a:off x="6316563" y="4233862"/>
            <a:ext cx="2426493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Lançamento: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Publicação do livro de referência e do compilador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Cfront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/>
          </a:p>
        </p:txBody>
      </p:sp>
      <p:sp>
        <p:nvSpPr>
          <p:cNvPr id="126" name="Google Shape;126;p16"/>
          <p:cNvSpPr txBox="1"/>
          <p:nvPr/>
        </p:nvSpPr>
        <p:spPr>
          <a:xfrm>
            <a:off x="9123670" y="2909887"/>
            <a:ext cx="2547818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D4FF"/>
                </a:solidFill>
                <a:latin typeface="Urbanist"/>
                <a:ea typeface="Urbanist"/>
                <a:cs typeface="Urbanist"/>
                <a:sym typeface="Urbanist"/>
              </a:rPr>
              <a:t>1998</a:t>
            </a:r>
            <a:endParaRPr/>
          </a:p>
        </p:txBody>
      </p:sp>
      <p:sp>
        <p:nvSpPr>
          <p:cNvPr id="127" name="Google Shape;127;p16"/>
          <p:cNvSpPr txBox="1"/>
          <p:nvPr/>
        </p:nvSpPr>
        <p:spPr>
          <a:xfrm>
            <a:off x="9184332" y="4233862"/>
            <a:ext cx="2426493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ISO C++98: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Ratificação do primeiro padrão internacional oficial.</a:t>
            </a:r>
            <a:endParaRPr/>
          </a:p>
        </p:txBody>
      </p:sp>
      <p:sp>
        <p:nvSpPr>
          <p:cNvPr id="128" name="Google Shape;128;p16"/>
          <p:cNvSpPr txBox="1"/>
          <p:nvPr/>
        </p:nvSpPr>
        <p:spPr>
          <a:xfrm>
            <a:off x="771525" y="581025"/>
            <a:ext cx="11381422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0" i="0" u="none" strike="noStrike" cap="none">
                <a:solidFill>
                  <a:srgbClr val="F8FAFC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EVOLUÇÃO E PADRONIZAÇÃO</a:t>
            </a:r>
            <a:endParaRPr/>
          </a:p>
        </p:txBody>
      </p:sp>
      <p:sp>
        <p:nvSpPr>
          <p:cNvPr id="129" name="Google Shape;129;p16"/>
          <p:cNvSpPr/>
          <p:nvPr/>
        </p:nvSpPr>
        <p:spPr>
          <a:xfrm>
            <a:off x="581025" y="581025"/>
            <a:ext cx="47625" cy="485775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6"/>
          <p:cNvSpPr/>
          <p:nvPr/>
        </p:nvSpPr>
        <p:spPr>
          <a:xfrm>
            <a:off x="1699021" y="4005262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0D4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6"/>
          <p:cNvSpPr/>
          <p:nvPr/>
        </p:nvSpPr>
        <p:spPr>
          <a:xfrm>
            <a:off x="4566791" y="4005262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0D4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6"/>
          <p:cNvSpPr/>
          <p:nvPr/>
        </p:nvSpPr>
        <p:spPr>
          <a:xfrm>
            <a:off x="7434560" y="4005262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0D4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6"/>
          <p:cNvSpPr/>
          <p:nvPr/>
        </p:nvSpPr>
        <p:spPr>
          <a:xfrm>
            <a:off x="10302329" y="4005262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0D4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4"/>
        </a:soli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447800"/>
            <a:ext cx="11029950" cy="4829175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17"/>
          <p:cNvSpPr txBox="1"/>
          <p:nvPr/>
        </p:nvSpPr>
        <p:spPr>
          <a:xfrm>
            <a:off x="581025" y="5319712"/>
            <a:ext cx="110299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Regido pelo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Zero-overhead principle: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Você só paga pelo que usa. Abstrações da POO sem perdas de desempenho desnecessárias.</a:t>
            </a:r>
            <a:endParaRPr/>
          </a:p>
        </p:txBody>
      </p:sp>
      <p:sp>
        <p:nvSpPr>
          <p:cNvPr id="141" name="Google Shape;141;p17"/>
          <p:cNvSpPr txBox="1"/>
          <p:nvPr/>
        </p:nvSpPr>
        <p:spPr>
          <a:xfrm>
            <a:off x="771525" y="581025"/>
            <a:ext cx="11381422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0" i="0" u="none" strike="noStrike" cap="none">
                <a:solidFill>
                  <a:srgbClr val="F8FAFC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COMPARATIVO DE PERFORMANCE</a:t>
            </a:r>
            <a:endParaRPr/>
          </a:p>
        </p:txBody>
      </p:sp>
      <p:sp>
        <p:nvSpPr>
          <p:cNvPr id="142" name="Google Shape;142;p17"/>
          <p:cNvSpPr/>
          <p:nvPr/>
        </p:nvSpPr>
        <p:spPr>
          <a:xfrm>
            <a:off x="581025" y="581025"/>
            <a:ext cx="47625" cy="485775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AA3F04-3B0F-672D-5AA7-FE273902A35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50EFF06-830A-14B9-A385-80BC3503C5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Google Shape;84;p13">
            <a:extLst>
              <a:ext uri="{FF2B5EF4-FFF2-40B4-BE49-F238E27FC236}">
                <a16:creationId xmlns:a16="http://schemas.microsoft.com/office/drawing/2014/main" id="{AEA55480-215A-171C-A27D-F554F78D4C6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85;p13">
            <a:extLst>
              <a:ext uri="{FF2B5EF4-FFF2-40B4-BE49-F238E27FC236}">
                <a16:creationId xmlns:a16="http://schemas.microsoft.com/office/drawing/2014/main" id="{57656D7C-156B-C7E9-E5BD-10FB879BC83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2233612"/>
            <a:ext cx="5372101" cy="1485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86;p13">
            <a:extLst>
              <a:ext uri="{FF2B5EF4-FFF2-40B4-BE49-F238E27FC236}">
                <a16:creationId xmlns:a16="http://schemas.microsoft.com/office/drawing/2014/main" id="{AE958DA4-4050-0E98-B312-7D6AB5CEA7B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38875" y="2233612"/>
            <a:ext cx="5372101" cy="1485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87;p13">
            <a:extLst>
              <a:ext uri="{FF2B5EF4-FFF2-40B4-BE49-F238E27FC236}">
                <a16:creationId xmlns:a16="http://schemas.microsoft.com/office/drawing/2014/main" id="{FA2F993D-4411-AE82-9EFB-35F33443753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4005262"/>
            <a:ext cx="5372101" cy="1485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8;p13">
            <a:extLst>
              <a:ext uri="{FF2B5EF4-FFF2-40B4-BE49-F238E27FC236}">
                <a16:creationId xmlns:a16="http://schemas.microsoft.com/office/drawing/2014/main" id="{F93BDAB2-074F-3CF3-744A-4F0F13C58FA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38875" y="4005262"/>
            <a:ext cx="5372101" cy="14859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89;p13">
            <a:extLst>
              <a:ext uri="{FF2B5EF4-FFF2-40B4-BE49-F238E27FC236}">
                <a16:creationId xmlns:a16="http://schemas.microsoft.com/office/drawing/2014/main" id="{C907DF85-9397-A2ED-0CD1-AC3DC9024C70}"/>
              </a:ext>
            </a:extLst>
          </p:cNvPr>
          <p:cNvSpPr txBox="1"/>
          <p:nvPr/>
        </p:nvSpPr>
        <p:spPr>
          <a:xfrm>
            <a:off x="923925" y="2576512"/>
            <a:ext cx="4920600" cy="3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1" i="0" u="none" strike="noStrike" cap="none">
                <a:solidFill>
                  <a:srgbClr val="00D4FF"/>
                </a:solidFill>
                <a:latin typeface="Urbanist"/>
                <a:ea typeface="Urbanist"/>
                <a:cs typeface="Urbanist"/>
                <a:sym typeface="Urbanist"/>
              </a:rPr>
              <a:t>Sistemas Operacionais</a:t>
            </a:r>
            <a:endParaRPr/>
          </a:p>
        </p:txBody>
      </p:sp>
      <p:sp>
        <p:nvSpPr>
          <p:cNvPr id="10" name="Google Shape;90;p13">
            <a:extLst>
              <a:ext uri="{FF2B5EF4-FFF2-40B4-BE49-F238E27FC236}">
                <a16:creationId xmlns:a16="http://schemas.microsoft.com/office/drawing/2014/main" id="{4FAF24D6-3158-BB45-9D2B-9C73597CB878}"/>
              </a:ext>
            </a:extLst>
          </p:cNvPr>
          <p:cNvSpPr txBox="1"/>
          <p:nvPr/>
        </p:nvSpPr>
        <p:spPr>
          <a:xfrm>
            <a:off x="923925" y="3071812"/>
            <a:ext cx="46863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Núcleos de Windows, macOS e Linux.</a:t>
            </a:r>
            <a:endParaRPr/>
          </a:p>
        </p:txBody>
      </p:sp>
      <p:sp>
        <p:nvSpPr>
          <p:cNvPr id="11" name="Google Shape;91;p13">
            <a:extLst>
              <a:ext uri="{FF2B5EF4-FFF2-40B4-BE49-F238E27FC236}">
                <a16:creationId xmlns:a16="http://schemas.microsoft.com/office/drawing/2014/main" id="{0CA471AC-F651-DAA3-4DFE-9D189A5F82A4}"/>
              </a:ext>
            </a:extLst>
          </p:cNvPr>
          <p:cNvSpPr txBox="1"/>
          <p:nvPr/>
        </p:nvSpPr>
        <p:spPr>
          <a:xfrm>
            <a:off x="6581775" y="2576512"/>
            <a:ext cx="4920600" cy="3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1" i="0" u="none" strike="noStrike" cap="none">
                <a:solidFill>
                  <a:srgbClr val="00D4FF"/>
                </a:solidFill>
                <a:latin typeface="Urbanist"/>
                <a:ea typeface="Urbanist"/>
                <a:cs typeface="Urbanist"/>
                <a:sym typeface="Urbanist"/>
              </a:rPr>
              <a:t>Finanças</a:t>
            </a:r>
            <a:endParaRPr/>
          </a:p>
        </p:txBody>
      </p:sp>
      <p:sp>
        <p:nvSpPr>
          <p:cNvPr id="12" name="Google Shape;92;p13">
            <a:extLst>
              <a:ext uri="{FF2B5EF4-FFF2-40B4-BE49-F238E27FC236}">
                <a16:creationId xmlns:a16="http://schemas.microsoft.com/office/drawing/2014/main" id="{7CD486CA-C012-9409-A652-0C5C33A13962}"/>
              </a:ext>
            </a:extLst>
          </p:cNvPr>
          <p:cNvSpPr txBox="1"/>
          <p:nvPr/>
        </p:nvSpPr>
        <p:spPr>
          <a:xfrm>
            <a:off x="6581775" y="3071812"/>
            <a:ext cx="46863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Trading de alta frequência e microssegundos.</a:t>
            </a:r>
            <a:endParaRPr/>
          </a:p>
        </p:txBody>
      </p:sp>
      <p:sp>
        <p:nvSpPr>
          <p:cNvPr id="13" name="Google Shape;93;p13">
            <a:extLst>
              <a:ext uri="{FF2B5EF4-FFF2-40B4-BE49-F238E27FC236}">
                <a16:creationId xmlns:a16="http://schemas.microsoft.com/office/drawing/2014/main" id="{46A7BF4C-7D20-8D01-CCFD-703569F3F812}"/>
              </a:ext>
            </a:extLst>
          </p:cNvPr>
          <p:cNvSpPr txBox="1"/>
          <p:nvPr/>
        </p:nvSpPr>
        <p:spPr>
          <a:xfrm>
            <a:off x="923925" y="4348162"/>
            <a:ext cx="4920600" cy="3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1" i="0" u="none" strike="noStrike" cap="none">
                <a:solidFill>
                  <a:srgbClr val="00D4FF"/>
                </a:solidFill>
                <a:latin typeface="Urbanist"/>
                <a:ea typeface="Urbanist"/>
                <a:cs typeface="Urbanist"/>
                <a:sym typeface="Urbanist"/>
              </a:rPr>
              <a:t>Sistemas Embarcados</a:t>
            </a:r>
            <a:endParaRPr/>
          </a:p>
        </p:txBody>
      </p:sp>
      <p:sp>
        <p:nvSpPr>
          <p:cNvPr id="14" name="Google Shape;94;p13">
            <a:extLst>
              <a:ext uri="{FF2B5EF4-FFF2-40B4-BE49-F238E27FC236}">
                <a16:creationId xmlns:a16="http://schemas.microsoft.com/office/drawing/2014/main" id="{341E9F92-7F71-FA2D-A14B-43250CAA80DF}"/>
              </a:ext>
            </a:extLst>
          </p:cNvPr>
          <p:cNvSpPr txBox="1"/>
          <p:nvPr/>
        </p:nvSpPr>
        <p:spPr>
          <a:xfrm>
            <a:off x="923925" y="4843462"/>
            <a:ext cx="46863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Carros autônomos e dispositivos médicos.</a:t>
            </a:r>
            <a:endParaRPr/>
          </a:p>
        </p:txBody>
      </p:sp>
      <p:sp>
        <p:nvSpPr>
          <p:cNvPr id="15" name="Google Shape;95;p13">
            <a:extLst>
              <a:ext uri="{FF2B5EF4-FFF2-40B4-BE49-F238E27FC236}">
                <a16:creationId xmlns:a16="http://schemas.microsoft.com/office/drawing/2014/main" id="{5FE60BF0-FF4A-72D0-6258-CCCC030DD04E}"/>
              </a:ext>
            </a:extLst>
          </p:cNvPr>
          <p:cNvSpPr txBox="1"/>
          <p:nvPr/>
        </p:nvSpPr>
        <p:spPr>
          <a:xfrm>
            <a:off x="6581775" y="4348162"/>
            <a:ext cx="4920600" cy="3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1" i="0" u="none" strike="noStrike" cap="none">
                <a:solidFill>
                  <a:srgbClr val="00D4FF"/>
                </a:solidFill>
                <a:latin typeface="Urbanist"/>
                <a:ea typeface="Urbanist"/>
                <a:cs typeface="Urbanist"/>
                <a:sym typeface="Urbanist"/>
              </a:rPr>
              <a:t>Motores de Jogos</a:t>
            </a:r>
            <a:endParaRPr/>
          </a:p>
        </p:txBody>
      </p:sp>
      <p:sp>
        <p:nvSpPr>
          <p:cNvPr id="16" name="Google Shape;96;p13">
            <a:extLst>
              <a:ext uri="{FF2B5EF4-FFF2-40B4-BE49-F238E27FC236}">
                <a16:creationId xmlns:a16="http://schemas.microsoft.com/office/drawing/2014/main" id="{BF9B6143-BC59-6FE9-A50C-263BB48BD08A}"/>
              </a:ext>
            </a:extLst>
          </p:cNvPr>
          <p:cNvSpPr txBox="1"/>
          <p:nvPr/>
        </p:nvSpPr>
        <p:spPr>
          <a:xfrm>
            <a:off x="6581775" y="4843462"/>
            <a:ext cx="46863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Unreal Engine e Godot Engine.</a:t>
            </a:r>
            <a:endParaRPr/>
          </a:p>
        </p:txBody>
      </p:sp>
      <p:sp>
        <p:nvSpPr>
          <p:cNvPr id="17" name="Google Shape;97;p13">
            <a:extLst>
              <a:ext uri="{FF2B5EF4-FFF2-40B4-BE49-F238E27FC236}">
                <a16:creationId xmlns:a16="http://schemas.microsoft.com/office/drawing/2014/main" id="{6AF7E50D-187D-6239-E7DF-4095FB2F3357}"/>
              </a:ext>
            </a:extLst>
          </p:cNvPr>
          <p:cNvSpPr txBox="1"/>
          <p:nvPr/>
        </p:nvSpPr>
        <p:spPr>
          <a:xfrm>
            <a:off x="771525" y="581025"/>
            <a:ext cx="113814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>
                <a:solidFill>
                  <a:srgbClr val="F8FAFC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DOMÍNIOS DE ATUAÇÃO</a:t>
            </a:r>
            <a:endParaRPr sz="3150">
              <a:solidFill>
                <a:srgbClr val="F8FAFC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  <p:sp>
        <p:nvSpPr>
          <p:cNvPr id="18" name="Google Shape;98;p13">
            <a:extLst>
              <a:ext uri="{FF2B5EF4-FFF2-40B4-BE49-F238E27FC236}">
                <a16:creationId xmlns:a16="http://schemas.microsoft.com/office/drawing/2014/main" id="{40148FC6-C9BF-5354-A17D-8DC27FCB07A6}"/>
              </a:ext>
            </a:extLst>
          </p:cNvPr>
          <p:cNvSpPr/>
          <p:nvPr/>
        </p:nvSpPr>
        <p:spPr>
          <a:xfrm>
            <a:off x="581025" y="581025"/>
            <a:ext cx="47700" cy="4857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720876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4"/>
        </a:solidFill>
        <a:effectLst/>
      </p:bgPr>
    </p:bg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67" name="Google Shape;167;p19"/>
          <p:cNvGraphicFramePr/>
          <p:nvPr>
            <p:extLst>
              <p:ext uri="{D42A27DB-BD31-4B8C-83A1-F6EECF244321}">
                <p14:modId xmlns:p14="http://schemas.microsoft.com/office/powerpoint/2010/main" val="561603129"/>
              </p:ext>
            </p:extLst>
          </p:nvPr>
        </p:nvGraphicFramePr>
        <p:xfrm>
          <a:off x="581025" y="2643187"/>
          <a:ext cx="11029950" cy="2533625"/>
        </p:xfrm>
        <a:graphic>
          <a:graphicData uri="http://schemas.openxmlformats.org/drawingml/2006/table">
            <a:tbl>
              <a:tblPr firstRow="1" bandRow="1">
                <a:noFill/>
                <a:tableStyleId>{D47BDFCB-5731-4457-81EC-8861598AB319}</a:tableStyleId>
              </a:tblPr>
              <a:tblGrid>
                <a:gridCol w="2295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75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58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67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00D4FF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Setor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00D4FF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Framework Líder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00D4FF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Uso da POO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67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1F5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Interfaces (GUI)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1F5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Qt / wxWidgets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1F5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Exemplifica a </a:t>
                      </a:r>
                      <a:r>
                        <a:rPr lang="en-US" sz="1350" b="1" i="0" u="none" strike="noStrike" cap="none">
                          <a:solidFill>
                            <a:srgbClr val="F1F5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Herança</a:t>
                      </a:r>
                      <a:r>
                        <a:rPr lang="en-US" sz="1350" b="0" i="0" u="none" strike="noStrike" cap="none">
                          <a:solidFill>
                            <a:srgbClr val="F1F5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de componentes visuais base.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67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1F5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Motores de Jogos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1F5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Unreal / Godot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1F5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Extrema flexibilidade e forte </a:t>
                      </a:r>
                      <a:r>
                        <a:rPr lang="en-US" sz="1350" b="1" i="0" u="none" strike="noStrike" cap="none">
                          <a:solidFill>
                            <a:srgbClr val="F1F5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Abstração</a:t>
                      </a:r>
                      <a:r>
                        <a:rPr lang="en-US" sz="1350" b="0" i="0" u="none" strike="noStrike" cap="none">
                          <a:solidFill>
                            <a:srgbClr val="F1F5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67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1F5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Machine Learning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1F5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TensorFlow / PyTorch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F1F5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Encapsulamento</a:t>
                      </a:r>
                      <a:r>
                        <a:rPr lang="en-US" sz="1350" b="0" i="0" u="none" strike="noStrike" cap="none">
                          <a:solidFill>
                            <a:srgbClr val="F1F5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estrito de cálculos complexos.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67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1F5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Qualidade/Testes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1F5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Google Test (gtest)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 err="1">
                          <a:solidFill>
                            <a:srgbClr val="F1F5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Utiliza</a:t>
                      </a:r>
                      <a:r>
                        <a:rPr lang="en-US" sz="1350" b="0" i="0" u="none" strike="noStrike" cap="none" dirty="0">
                          <a:solidFill>
                            <a:srgbClr val="F1F5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</a:t>
                      </a:r>
                      <a:r>
                        <a:rPr lang="en-US" sz="1350" b="1" i="0" u="none" strike="noStrike" cap="none" dirty="0" err="1">
                          <a:solidFill>
                            <a:srgbClr val="F1F5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Polimorfismo</a:t>
                      </a:r>
                      <a:r>
                        <a:rPr lang="en-US" sz="1350" b="0" i="0" u="none" strike="noStrike" cap="none" dirty="0">
                          <a:solidFill>
                            <a:srgbClr val="F1F5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</a:t>
                      </a:r>
                      <a:r>
                        <a:rPr lang="en-US" sz="1350" b="0" i="0" u="none" strike="noStrike" cap="none" dirty="0" err="1">
                          <a:solidFill>
                            <a:srgbClr val="F1F5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dinâmico</a:t>
                      </a:r>
                      <a:r>
                        <a:rPr lang="en-US" sz="1350" b="0" i="0" u="none" strike="noStrike" cap="none" dirty="0">
                          <a:solidFill>
                            <a:srgbClr val="F1F5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</a:t>
                      </a:r>
                      <a:r>
                        <a:rPr lang="en-US" sz="1350" b="0" i="0" u="none" strike="noStrike" cap="none" dirty="0" err="1">
                          <a:solidFill>
                            <a:srgbClr val="F1F5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massivamente</a:t>
                      </a:r>
                      <a:r>
                        <a:rPr lang="en-US" sz="1350" b="0" i="0" u="none" strike="noStrike" cap="none" dirty="0">
                          <a:solidFill>
                            <a:srgbClr val="F1F5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.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68" name="Google Shape;168;p19"/>
          <p:cNvSpPr/>
          <p:nvPr/>
        </p:nvSpPr>
        <p:spPr>
          <a:xfrm>
            <a:off x="581025" y="3648075"/>
            <a:ext cx="2295525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9"/>
          <p:cNvSpPr/>
          <p:nvPr/>
        </p:nvSpPr>
        <p:spPr>
          <a:xfrm>
            <a:off x="2876550" y="3648075"/>
            <a:ext cx="2675929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9"/>
          <p:cNvSpPr/>
          <p:nvPr/>
        </p:nvSpPr>
        <p:spPr>
          <a:xfrm>
            <a:off x="5552479" y="3648075"/>
            <a:ext cx="6058495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9"/>
          <p:cNvSpPr/>
          <p:nvPr/>
        </p:nvSpPr>
        <p:spPr>
          <a:xfrm>
            <a:off x="581025" y="4152900"/>
            <a:ext cx="2295525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9"/>
          <p:cNvSpPr/>
          <p:nvPr/>
        </p:nvSpPr>
        <p:spPr>
          <a:xfrm>
            <a:off x="2876550" y="4152900"/>
            <a:ext cx="2675929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9"/>
          <p:cNvSpPr/>
          <p:nvPr/>
        </p:nvSpPr>
        <p:spPr>
          <a:xfrm>
            <a:off x="5552479" y="4152900"/>
            <a:ext cx="6058495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9"/>
          <p:cNvSpPr/>
          <p:nvPr/>
        </p:nvSpPr>
        <p:spPr>
          <a:xfrm>
            <a:off x="581025" y="4657725"/>
            <a:ext cx="2295525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9"/>
          <p:cNvSpPr/>
          <p:nvPr/>
        </p:nvSpPr>
        <p:spPr>
          <a:xfrm>
            <a:off x="2876550" y="4657725"/>
            <a:ext cx="2675929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9"/>
          <p:cNvSpPr/>
          <p:nvPr/>
        </p:nvSpPr>
        <p:spPr>
          <a:xfrm>
            <a:off x="5552479" y="4657725"/>
            <a:ext cx="6058495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9"/>
          <p:cNvSpPr/>
          <p:nvPr/>
        </p:nvSpPr>
        <p:spPr>
          <a:xfrm>
            <a:off x="581025" y="5162550"/>
            <a:ext cx="2295525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9"/>
          <p:cNvSpPr/>
          <p:nvPr/>
        </p:nvSpPr>
        <p:spPr>
          <a:xfrm>
            <a:off x="2876550" y="5162550"/>
            <a:ext cx="2675929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9"/>
          <p:cNvSpPr/>
          <p:nvPr/>
        </p:nvSpPr>
        <p:spPr>
          <a:xfrm>
            <a:off x="5552479" y="5162550"/>
            <a:ext cx="6058495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9"/>
          <p:cNvSpPr txBox="1"/>
          <p:nvPr/>
        </p:nvSpPr>
        <p:spPr>
          <a:xfrm>
            <a:off x="771525" y="581025"/>
            <a:ext cx="11381422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0" i="0" u="none" strike="noStrike" cap="none">
                <a:solidFill>
                  <a:srgbClr val="F8FAFC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ECOSSISTEMA E FRAMEWORKS</a:t>
            </a:r>
            <a:endParaRPr/>
          </a:p>
        </p:txBody>
      </p:sp>
      <p:sp>
        <p:nvSpPr>
          <p:cNvPr id="181" name="Google Shape;181;p19"/>
          <p:cNvSpPr/>
          <p:nvPr/>
        </p:nvSpPr>
        <p:spPr>
          <a:xfrm>
            <a:off x="581025" y="581025"/>
            <a:ext cx="47625" cy="485775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4"/>
        </a:solidFill>
        <a:effectLst/>
      </p:bgPr>
    </p:bg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6" name="Google Shape;186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87" name="Google Shape;187;p20"/>
          <p:cNvGraphicFramePr/>
          <p:nvPr>
            <p:extLst>
              <p:ext uri="{D42A27DB-BD31-4B8C-83A1-F6EECF244321}">
                <p14:modId xmlns:p14="http://schemas.microsoft.com/office/powerpoint/2010/main" val="763267333"/>
              </p:ext>
            </p:extLst>
          </p:nvPr>
        </p:nvGraphicFramePr>
        <p:xfrm>
          <a:off x="581025" y="2643187"/>
          <a:ext cx="11029925" cy="2533625"/>
        </p:xfrm>
        <a:graphic>
          <a:graphicData uri="http://schemas.openxmlformats.org/drawingml/2006/table">
            <a:tbl>
              <a:tblPr firstRow="1" bandRow="1">
                <a:noFill/>
                <a:tableStyleId>{D47BDFCB-5731-4457-81EC-8861598AB319}</a:tableStyleId>
              </a:tblPr>
              <a:tblGrid>
                <a:gridCol w="1872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41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15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67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>
                          <a:solidFill>
                            <a:srgbClr val="00D4FF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Pilar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00D4FF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Implementação em C++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00D4FF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Implementação em C#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67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F1F5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Abstração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 err="1">
                          <a:solidFill>
                            <a:srgbClr val="F1F5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Baseada</a:t>
                      </a:r>
                      <a:r>
                        <a:rPr lang="en-US" sz="1350" b="0" i="0" u="none" strike="noStrike" cap="none" dirty="0">
                          <a:solidFill>
                            <a:srgbClr val="F1F5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</a:t>
                      </a:r>
                      <a:r>
                        <a:rPr lang="en-US" sz="1350" b="0" i="0" u="none" strike="noStrike" cap="none" dirty="0" err="1">
                          <a:solidFill>
                            <a:srgbClr val="F1F5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em</a:t>
                      </a:r>
                      <a:r>
                        <a:rPr lang="en-US" sz="1350" b="0" i="0" u="none" strike="noStrike" cap="none" dirty="0">
                          <a:solidFill>
                            <a:srgbClr val="F1F5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Funções </a:t>
                      </a:r>
                      <a:r>
                        <a:rPr lang="en-US" sz="1350" b="0" i="0" u="none" strike="noStrike" cap="none" dirty="0" err="1">
                          <a:solidFill>
                            <a:srgbClr val="F1F5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Virtuais</a:t>
                      </a:r>
                      <a:r>
                        <a:rPr lang="en-US" sz="1350" b="0" i="0" u="none" strike="noStrike" cap="none" dirty="0">
                          <a:solidFill>
                            <a:srgbClr val="F1F5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Puras (= 0).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1F5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Utiliza palavras-chave explícitas nativas (interface).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67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F1F5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Encapsulamento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1F5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Modificadores como rótulos de bloco (public:).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1F5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Aplicados membro a membro (Properties).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67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F1F5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Herança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1F5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Suporta </a:t>
                      </a:r>
                      <a:r>
                        <a:rPr lang="en-US" sz="1350" b="1" i="0" u="none" strike="noStrike" cap="none">
                          <a:solidFill>
                            <a:srgbClr val="F1F5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Herança Múltipla</a:t>
                      </a:r>
                      <a:r>
                        <a:rPr lang="en-US" sz="1350" b="0" i="0" u="none" strike="noStrike" cap="none">
                          <a:solidFill>
                            <a:srgbClr val="F1F5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de classes.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1F5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Suporta apenas Herança Simples de classes.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67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F1F5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Polimorfismo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1F5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Exige ponteiros (*) ou referências (&amp;).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 err="1">
                          <a:solidFill>
                            <a:srgbClr val="F1F5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Gerenciado</a:t>
                      </a:r>
                      <a:r>
                        <a:rPr lang="en-US" sz="1350" b="0" i="0" u="none" strike="noStrike" cap="none" dirty="0">
                          <a:solidFill>
                            <a:srgbClr val="F1F5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</a:t>
                      </a:r>
                      <a:r>
                        <a:rPr lang="en-US" sz="1350" b="0" i="0" u="none" strike="noStrike" cap="none" dirty="0" err="1">
                          <a:solidFill>
                            <a:srgbClr val="F1F5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nativamente</a:t>
                      </a:r>
                      <a:r>
                        <a:rPr lang="en-US" sz="1350" b="0" i="0" u="none" strike="noStrike" cap="none" dirty="0">
                          <a:solidFill>
                            <a:srgbClr val="F1F5F9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pela CLR (.NET).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8" name="Google Shape;188;p20"/>
          <p:cNvSpPr/>
          <p:nvPr/>
        </p:nvSpPr>
        <p:spPr>
          <a:xfrm>
            <a:off x="581025" y="3648075"/>
            <a:ext cx="1872108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20"/>
          <p:cNvSpPr/>
          <p:nvPr/>
        </p:nvSpPr>
        <p:spPr>
          <a:xfrm>
            <a:off x="2453133" y="3648075"/>
            <a:ext cx="4341911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0"/>
          <p:cNvSpPr/>
          <p:nvPr/>
        </p:nvSpPr>
        <p:spPr>
          <a:xfrm>
            <a:off x="6795045" y="3648075"/>
            <a:ext cx="4815929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20"/>
          <p:cNvSpPr/>
          <p:nvPr/>
        </p:nvSpPr>
        <p:spPr>
          <a:xfrm>
            <a:off x="581025" y="4152900"/>
            <a:ext cx="1872108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20"/>
          <p:cNvSpPr/>
          <p:nvPr/>
        </p:nvSpPr>
        <p:spPr>
          <a:xfrm>
            <a:off x="2453133" y="4152900"/>
            <a:ext cx="4341911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20"/>
          <p:cNvSpPr/>
          <p:nvPr/>
        </p:nvSpPr>
        <p:spPr>
          <a:xfrm>
            <a:off x="6795045" y="4152900"/>
            <a:ext cx="4815929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20"/>
          <p:cNvSpPr/>
          <p:nvPr/>
        </p:nvSpPr>
        <p:spPr>
          <a:xfrm>
            <a:off x="581025" y="4657725"/>
            <a:ext cx="1872108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0"/>
          <p:cNvSpPr/>
          <p:nvPr/>
        </p:nvSpPr>
        <p:spPr>
          <a:xfrm>
            <a:off x="2453133" y="4657725"/>
            <a:ext cx="4341911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20"/>
          <p:cNvSpPr/>
          <p:nvPr/>
        </p:nvSpPr>
        <p:spPr>
          <a:xfrm>
            <a:off x="6795045" y="4657725"/>
            <a:ext cx="4815929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0"/>
          <p:cNvSpPr/>
          <p:nvPr/>
        </p:nvSpPr>
        <p:spPr>
          <a:xfrm>
            <a:off x="581025" y="5162550"/>
            <a:ext cx="1872108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0"/>
          <p:cNvSpPr/>
          <p:nvPr/>
        </p:nvSpPr>
        <p:spPr>
          <a:xfrm>
            <a:off x="2453133" y="5162550"/>
            <a:ext cx="4341911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20"/>
          <p:cNvSpPr/>
          <p:nvPr/>
        </p:nvSpPr>
        <p:spPr>
          <a:xfrm>
            <a:off x="6795045" y="5162550"/>
            <a:ext cx="4815929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20"/>
          <p:cNvSpPr txBox="1"/>
          <p:nvPr/>
        </p:nvSpPr>
        <p:spPr>
          <a:xfrm>
            <a:off x="771525" y="581025"/>
            <a:ext cx="11381422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0" i="0" u="none" strike="noStrike" cap="none">
                <a:solidFill>
                  <a:srgbClr val="F8FAFC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MAPEAMENTO DOS PILARES: C++ VS C#</a:t>
            </a:r>
            <a:endParaRPr/>
          </a:p>
        </p:txBody>
      </p:sp>
      <p:sp>
        <p:nvSpPr>
          <p:cNvPr id="201" name="Google Shape;201;p20"/>
          <p:cNvSpPr/>
          <p:nvPr/>
        </p:nvSpPr>
        <p:spPr>
          <a:xfrm>
            <a:off x="581025" y="581025"/>
            <a:ext cx="47625" cy="485775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4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314575"/>
            <a:ext cx="3486150" cy="3095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52925" y="2314575"/>
            <a:ext cx="3486150" cy="3095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4825" y="2314575"/>
            <a:ext cx="3486150" cy="3095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21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57400" y="2600325"/>
            <a:ext cx="53340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1"/>
          <p:cNvSpPr txBox="1"/>
          <p:nvPr/>
        </p:nvSpPr>
        <p:spPr>
          <a:xfrm>
            <a:off x="793908" y="3267075"/>
            <a:ext cx="3060382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D4FF"/>
                </a:solidFill>
                <a:latin typeface="Urbanist"/>
                <a:ea typeface="Urbanist"/>
                <a:cs typeface="Urbanist"/>
                <a:sym typeface="Urbanist"/>
              </a:rPr>
              <a:t>Memória (RAII)</a:t>
            </a:r>
            <a:endParaRPr/>
          </a:p>
        </p:txBody>
      </p:sp>
      <p:sp>
        <p:nvSpPr>
          <p:cNvPr id="212" name="Google Shape;212;p21"/>
          <p:cNvSpPr txBox="1"/>
          <p:nvPr/>
        </p:nvSpPr>
        <p:spPr>
          <a:xfrm>
            <a:off x="866775" y="3733800"/>
            <a:ext cx="29146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C++: Gestão manual via Destrutores. Controle total vs Garbage Collector do C#.</a:t>
            </a:r>
            <a:endParaRPr/>
          </a:p>
        </p:txBody>
      </p:sp>
      <p:pic>
        <p:nvPicPr>
          <p:cNvPr id="213" name="Google Shape;213;p21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57875" y="2600325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21"/>
          <p:cNvSpPr txBox="1"/>
          <p:nvPr/>
        </p:nvSpPr>
        <p:spPr>
          <a:xfrm>
            <a:off x="4565808" y="3267075"/>
            <a:ext cx="3060382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D4FF"/>
                </a:solidFill>
                <a:latin typeface="Urbanist"/>
                <a:ea typeface="Urbanist"/>
                <a:cs typeface="Urbanist"/>
                <a:sym typeface="Urbanist"/>
              </a:rPr>
              <a:t>Diamante</a:t>
            </a:r>
            <a:endParaRPr/>
          </a:p>
        </p:txBody>
      </p:sp>
      <p:sp>
        <p:nvSpPr>
          <p:cNvPr id="215" name="Google Shape;215;p21"/>
          <p:cNvSpPr txBox="1"/>
          <p:nvPr/>
        </p:nvSpPr>
        <p:spPr>
          <a:xfrm>
            <a:off x="4638675" y="3733800"/>
            <a:ext cx="29146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C++: Soluciona a ambiguidade da herança múltipla exigindo o uso da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Herança Virtual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/>
          </a:p>
        </p:txBody>
      </p:sp>
      <p:pic>
        <p:nvPicPr>
          <p:cNvPr id="216" name="Google Shape;216;p21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29775" y="2600325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21"/>
          <p:cNvSpPr txBox="1"/>
          <p:nvPr/>
        </p:nvSpPr>
        <p:spPr>
          <a:xfrm>
            <a:off x="8337708" y="3267075"/>
            <a:ext cx="3060382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D4FF"/>
                </a:solidFill>
                <a:latin typeface="Urbanist"/>
                <a:ea typeface="Urbanist"/>
                <a:cs typeface="Urbanist"/>
                <a:sym typeface="Urbanist"/>
              </a:rPr>
              <a:t>VTable</a:t>
            </a:r>
            <a:endParaRPr/>
          </a:p>
        </p:txBody>
      </p:sp>
      <p:sp>
        <p:nvSpPr>
          <p:cNvPr id="218" name="Google Shape;218;p21"/>
          <p:cNvSpPr txBox="1"/>
          <p:nvPr/>
        </p:nvSpPr>
        <p:spPr>
          <a:xfrm>
            <a:off x="8410575" y="3733800"/>
            <a:ext cx="291465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C++: Tabela Virtual (matriz leve de ponteiros de função) para manter o Polimorfismo extremamente veloz.</a:t>
            </a:r>
            <a:endParaRPr/>
          </a:p>
        </p:txBody>
      </p:sp>
      <p:sp>
        <p:nvSpPr>
          <p:cNvPr id="219" name="Google Shape;219;p21"/>
          <p:cNvSpPr txBox="1"/>
          <p:nvPr/>
        </p:nvSpPr>
        <p:spPr>
          <a:xfrm>
            <a:off x="771525" y="581025"/>
            <a:ext cx="11381422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0" i="0" u="none" strike="noStrike" cap="none">
                <a:solidFill>
                  <a:srgbClr val="F8FAFC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DIFERENÇAS DE ARQUITETURA</a:t>
            </a:r>
            <a:endParaRPr/>
          </a:p>
        </p:txBody>
      </p:sp>
      <p:sp>
        <p:nvSpPr>
          <p:cNvPr id="220" name="Google Shape;220;p21"/>
          <p:cNvSpPr/>
          <p:nvPr/>
        </p:nvSpPr>
        <p:spPr>
          <a:xfrm>
            <a:off x="581025" y="581025"/>
            <a:ext cx="47625" cy="485775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4"/>
        </a:solidFill>
        <a:effectLst/>
      </p:bgPr>
    </p:bg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" name="Google Shape;225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3095625"/>
            <a:ext cx="5229225" cy="2000250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22"/>
          <p:cNvSpPr txBox="1"/>
          <p:nvPr/>
        </p:nvSpPr>
        <p:spPr>
          <a:xfrm>
            <a:off x="581025" y="2490787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D4FF"/>
                </a:solidFill>
                <a:latin typeface="Urbanist"/>
                <a:ea typeface="Urbanist"/>
                <a:cs typeface="Urbanist"/>
                <a:sym typeface="Urbanist"/>
              </a:rPr>
              <a:t>Dinâmica do Sistema</a:t>
            </a:r>
            <a:endParaRPr/>
          </a:p>
        </p:txBody>
      </p:sp>
      <p:sp>
        <p:nvSpPr>
          <p:cNvPr id="228" name="Google Shape;228;p22"/>
          <p:cNvSpPr txBox="1"/>
          <p:nvPr/>
        </p:nvSpPr>
        <p:spPr>
          <a:xfrm>
            <a:off x="581025" y="2957512"/>
            <a:ext cx="52292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O sistema solicita distância e carga no console e instancia dois veículos usando alocação dinâmica (</a:t>
            </a:r>
            <a:r>
              <a:rPr lang="en-US" sz="1500" b="0" i="1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new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).</a:t>
            </a:r>
            <a:endParaRPr/>
          </a:p>
        </p:txBody>
      </p:sp>
      <p:sp>
        <p:nvSpPr>
          <p:cNvPr id="229" name="Google Shape;229;p22"/>
          <p:cNvSpPr txBox="1"/>
          <p:nvPr/>
        </p:nvSpPr>
        <p:spPr>
          <a:xfrm>
            <a:off x="581025" y="3709987"/>
            <a:ext cx="5229225" cy="93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 função exibirRelatorio trata ambos como </a:t>
            </a:r>
            <a:r>
              <a:rPr lang="en-US" sz="1500" b="0" i="1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Veiculo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. Ao chamar calcularCustoViagem(), o método da classe filha correspondente é executado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(Polimorfismo)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/>
          </a:p>
        </p:txBody>
      </p:sp>
      <p:sp>
        <p:nvSpPr>
          <p:cNvPr id="230" name="Google Shape;230;p22"/>
          <p:cNvSpPr txBox="1"/>
          <p:nvPr/>
        </p:nvSpPr>
        <p:spPr>
          <a:xfrm>
            <a:off x="581025" y="4786312"/>
            <a:ext cx="52292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Ao final, a memória é liberada com </a:t>
            </a:r>
            <a:r>
              <a:rPr lang="en-US" sz="1500" b="0" i="1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delete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/>
          </a:p>
        </p:txBody>
      </p:sp>
      <p:sp>
        <p:nvSpPr>
          <p:cNvPr id="231" name="Google Shape;231;p22"/>
          <p:cNvSpPr txBox="1"/>
          <p:nvPr/>
        </p:nvSpPr>
        <p:spPr>
          <a:xfrm>
            <a:off x="6381750" y="2628900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D4FF"/>
                </a:solidFill>
                <a:latin typeface="Urbanist"/>
                <a:ea typeface="Urbanist"/>
                <a:cs typeface="Urbanist"/>
                <a:sym typeface="Urbanist"/>
              </a:rPr>
              <a:t>Saída no Console</a:t>
            </a:r>
            <a:endParaRPr/>
          </a:p>
        </p:txBody>
      </p:sp>
      <p:sp>
        <p:nvSpPr>
          <p:cNvPr id="232" name="Google Shape;232;p22"/>
          <p:cNvSpPr txBox="1"/>
          <p:nvPr/>
        </p:nvSpPr>
        <p:spPr>
          <a:xfrm>
            <a:off x="771525" y="581025"/>
            <a:ext cx="11381422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0" i="0" u="none" strike="noStrike" cap="none">
                <a:solidFill>
                  <a:srgbClr val="F8FAFC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CASO PRÁTICO: GESTÃO DE FROTA</a:t>
            </a:r>
            <a:endParaRPr/>
          </a:p>
        </p:txBody>
      </p:sp>
      <p:sp>
        <p:nvSpPr>
          <p:cNvPr id="233" name="Google Shape;233;p22"/>
          <p:cNvSpPr/>
          <p:nvPr/>
        </p:nvSpPr>
        <p:spPr>
          <a:xfrm>
            <a:off x="581025" y="581025"/>
            <a:ext cx="47625" cy="485775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4"/>
        </a:solidFill>
        <a:effectLst/>
      </p:bgPr>
    </p:bg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8" name="Google Shape;238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23"/>
          <p:cNvSpPr txBox="1"/>
          <p:nvPr/>
        </p:nvSpPr>
        <p:spPr>
          <a:xfrm>
            <a:off x="581025" y="1471612"/>
            <a:ext cx="110299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O diagrama representa o relacionamento "É-UM" (Herança) entre a superclasse e as especializações.</a:t>
            </a:r>
            <a:endParaRPr/>
          </a:p>
        </p:txBody>
      </p:sp>
      <p:sp>
        <p:nvSpPr>
          <p:cNvPr id="244" name="Google Shape;244;p23"/>
          <p:cNvSpPr txBox="1"/>
          <p:nvPr/>
        </p:nvSpPr>
        <p:spPr>
          <a:xfrm>
            <a:off x="771525" y="581025"/>
            <a:ext cx="11381422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0" i="0" u="none" strike="noStrike" cap="none">
                <a:solidFill>
                  <a:srgbClr val="F8FAFC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MODELAGEM DO SISTEMA (UML)</a:t>
            </a:r>
            <a:endParaRPr/>
          </a:p>
        </p:txBody>
      </p:sp>
      <p:sp>
        <p:nvSpPr>
          <p:cNvPr id="245" name="Google Shape;245;p23"/>
          <p:cNvSpPr/>
          <p:nvPr/>
        </p:nvSpPr>
        <p:spPr>
          <a:xfrm>
            <a:off x="581025" y="581025"/>
            <a:ext cx="47625" cy="485775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0816E624-2AB2-489B-5CFA-CC9CAB7841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6420" y="2059303"/>
            <a:ext cx="5979160" cy="408598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4"/>
        </a:solidFill>
        <a:effectLst/>
      </p:bgPr>
    </p:bg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0" name="Google Shape;250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24"/>
          <p:cNvSpPr txBox="1"/>
          <p:nvPr/>
        </p:nvSpPr>
        <p:spPr>
          <a:xfrm>
            <a:off x="305276" y="1114425"/>
            <a:ext cx="11581447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Referências</a:t>
            </a:r>
            <a:endParaRPr/>
          </a:p>
        </p:txBody>
      </p:sp>
      <p:sp>
        <p:nvSpPr>
          <p:cNvPr id="252" name="Google Shape;252;p24"/>
          <p:cNvSpPr/>
          <p:nvPr/>
        </p:nvSpPr>
        <p:spPr>
          <a:xfrm>
            <a:off x="5619750" y="2543175"/>
            <a:ext cx="952500" cy="47625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24"/>
          <p:cNvSpPr txBox="1"/>
          <p:nvPr/>
        </p:nvSpPr>
        <p:spPr>
          <a:xfrm>
            <a:off x="581025" y="2876550"/>
            <a:ext cx="110299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1. Stroustrup, B. </a:t>
            </a:r>
            <a:r>
              <a:rPr lang="en-US" sz="1500" b="0" i="1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The Design and Evolution of C++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. Addison-Wesley, 1994.</a:t>
            </a:r>
            <a:endParaRPr dirty="0"/>
          </a:p>
        </p:txBody>
      </p:sp>
      <p:sp>
        <p:nvSpPr>
          <p:cNvPr id="254" name="Google Shape;254;p24"/>
          <p:cNvSpPr txBox="1"/>
          <p:nvPr/>
        </p:nvSpPr>
        <p:spPr>
          <a:xfrm>
            <a:off x="581025" y="3324225"/>
            <a:ext cx="110299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2. Stroustrup, B. </a:t>
            </a:r>
            <a:r>
              <a:rPr lang="en-US" sz="1500" b="0" i="1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The C++ Programming Language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. 4ª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Edição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. 2013.</a:t>
            </a:r>
            <a:endParaRPr dirty="0"/>
          </a:p>
        </p:txBody>
      </p:sp>
      <p:sp>
        <p:nvSpPr>
          <p:cNvPr id="255" name="Google Shape;255;p24"/>
          <p:cNvSpPr txBox="1"/>
          <p:nvPr/>
        </p:nvSpPr>
        <p:spPr>
          <a:xfrm>
            <a:off x="581025" y="3771900"/>
            <a:ext cx="110299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3. ISO/IEC 14882. </a:t>
            </a:r>
            <a:r>
              <a:rPr lang="en-US" sz="1500" b="0" i="1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Programming languages — C++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dirty="0"/>
          </a:p>
        </p:txBody>
      </p:sp>
      <p:sp>
        <p:nvSpPr>
          <p:cNvPr id="256" name="Google Shape;256;p24"/>
          <p:cNvSpPr txBox="1"/>
          <p:nvPr/>
        </p:nvSpPr>
        <p:spPr>
          <a:xfrm>
            <a:off x="581025" y="4219575"/>
            <a:ext cx="110299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4. Lion, D. </a:t>
            </a:r>
            <a:r>
              <a:rPr lang="en-US" sz="1500" b="0" i="1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Why JavaScript and Python are slower than C++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. USENIX, 2022.</a:t>
            </a:r>
            <a:endParaRPr dirty="0"/>
          </a:p>
        </p:txBody>
      </p:sp>
      <p:sp>
        <p:nvSpPr>
          <p:cNvPr id="2" name="Google Shape;256;p24">
            <a:extLst>
              <a:ext uri="{FF2B5EF4-FFF2-40B4-BE49-F238E27FC236}">
                <a16:creationId xmlns:a16="http://schemas.microsoft.com/office/drawing/2014/main" id="{09D87C2A-A22B-81EB-A5FF-629A5352169D}"/>
              </a:ext>
            </a:extLst>
          </p:cNvPr>
          <p:cNvSpPr txBox="1"/>
          <p:nvPr/>
        </p:nvSpPr>
        <p:spPr>
          <a:xfrm>
            <a:off x="581025" y="4667250"/>
            <a:ext cx="1102995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5. Chou, L. A comparison of C++, Java and Python.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OAKTrust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, Texas A&amp;M University, 1997.</a:t>
            </a:r>
          </a:p>
        </p:txBody>
      </p:sp>
      <p:sp>
        <p:nvSpPr>
          <p:cNvPr id="3" name="Google Shape;256;p24">
            <a:extLst>
              <a:ext uri="{FF2B5EF4-FFF2-40B4-BE49-F238E27FC236}">
                <a16:creationId xmlns:a16="http://schemas.microsoft.com/office/drawing/2014/main" id="{80DFE3D4-9C05-6EEF-574B-627904A8DC0F}"/>
              </a:ext>
            </a:extLst>
          </p:cNvPr>
          <p:cNvSpPr txBox="1"/>
          <p:nvPr/>
        </p:nvSpPr>
        <p:spPr>
          <a:xfrm>
            <a:off x="581025" y="5114925"/>
            <a:ext cx="1102995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6.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Fourment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, M. A comparison of common programming languages used in bioinformatics. PMC, 2008.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650</Words>
  <Application>Microsoft Office PowerPoint</Application>
  <PresentationFormat>Widescreen</PresentationFormat>
  <Paragraphs>85</Paragraphs>
  <Slides>12</Slides>
  <Notes>11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7" baseType="lpstr">
      <vt:lpstr>Calibri</vt:lpstr>
      <vt:lpstr>Arial</vt:lpstr>
      <vt:lpstr>Urbanist</vt:lpstr>
      <vt:lpstr>Urbanist Medium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VITOR HUGO SANTOS AGUIAR</cp:lastModifiedBy>
  <cp:revision>1</cp:revision>
  <dcterms:modified xsi:type="dcterms:W3CDTF">2026-05-13T18:51:08Z</dcterms:modified>
</cp:coreProperties>
</file>