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  <p:embeddedFont>
      <p:font typeface="Urbanist Medium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BDFCB-5731-4457-81EC-8861598AB319}">
  <a:tblStyle styleId="{D47BDFCB-5731-4457-81EC-8861598AB31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24" y="2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05451" y="2413337"/>
            <a:ext cx="878109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Programação</a:t>
            </a:r>
            <a:r>
              <a:rPr lang="en-US" sz="6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0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Orientada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60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Objetos</a:t>
            </a:r>
            <a:r>
              <a:rPr lang="en-US" sz="6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0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em</a:t>
            </a:r>
            <a:r>
              <a:rPr lang="en-US" sz="6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000" b="1" i="0" u="none" strike="noStrike" cap="none" dirty="0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6381750" y="270033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Bjarne Stroustrup (Bell Labs)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81750" y="3167062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Concebido no final da década de 1970 em Nova Jersey. A visão era estender o C com recursos de abstração de alto nível para lidar com a complexidade de sistemas distribuídos.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42719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"Eu queria construir um sistema multi-computador com um sistema de comunicação."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 CRIADOR E A ORIGEM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5E8EF49-40EE-6A28-7ADF-178108B6FD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78"/>
          <a:stretch>
            <a:fillRect/>
          </a:stretch>
        </p:blipFill>
        <p:spPr>
          <a:xfrm>
            <a:off x="1490649" y="1918163"/>
            <a:ext cx="3400209" cy="34121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12640"/>
            <a:ext cx="53721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312640"/>
            <a:ext cx="53721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81025" y="490344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 C++ não substituiu o C, ele o evoluiu integrando POO e performance.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23925" y="2655540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Camada de Abstração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23925" y="3122265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Influenciada pela linguagem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Simula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Fornece a organização de sistemas complexos através de objetos e classes.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581775" y="2655540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Camada de Eficiência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581775" y="3122265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Mantém a base da linguagem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Garante a execução próxima ao hardware e a velocidade necessária para sistemas de baixo nível.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 SÍNTESE DE PARADIGMAS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/>
          <p:nvPr/>
        </p:nvSpPr>
        <p:spPr>
          <a:xfrm>
            <a:off x="581025" y="3862387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520362" y="2909887"/>
            <a:ext cx="25478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1979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81025" y="4233862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 with Classes: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Início do projeto unindo a eficiência do C com o Simula.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3388131" y="2909887"/>
            <a:ext cx="25478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1983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3448794" y="4233862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Batismo (C++):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Rick Mascitti sugere o nome (operador de incremento).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255900" y="2909887"/>
            <a:ext cx="25478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1985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316563" y="4233862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Lançamento: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Publicação do livro de referência e do compilador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Cfront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123670" y="2909887"/>
            <a:ext cx="25478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1998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184332" y="4233862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ISO C++98: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Ratificação do primeiro padrão internacional oficial.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EVOLUÇÃO E PADRONIZAÇÃO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1699021" y="40052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4566791" y="40052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7434560" y="40052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10302329" y="40052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47800"/>
            <a:ext cx="110299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81025" y="5319712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Regido pelo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Zero-overhead principle: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Você só paga pelo que usa. Abstrações da POO sem perdas de desempenho desnecessárias.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COMPARATIVO DE PERFORMANCE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A3F04-3B0F-672D-5AA7-FE273902A3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0EFF06-830A-14B9-A385-80BC3503C5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Google Shape;84;p13">
            <a:extLst>
              <a:ext uri="{FF2B5EF4-FFF2-40B4-BE49-F238E27FC236}">
                <a16:creationId xmlns:a16="http://schemas.microsoft.com/office/drawing/2014/main" id="{AEA55480-215A-171C-A27D-F554F78D4C6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5;p13">
            <a:extLst>
              <a:ext uri="{FF2B5EF4-FFF2-40B4-BE49-F238E27FC236}">
                <a16:creationId xmlns:a16="http://schemas.microsoft.com/office/drawing/2014/main" id="{57656D7C-156B-C7E9-E5BD-10FB879BC8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233612"/>
            <a:ext cx="5372101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6;p13">
            <a:extLst>
              <a:ext uri="{FF2B5EF4-FFF2-40B4-BE49-F238E27FC236}">
                <a16:creationId xmlns:a16="http://schemas.microsoft.com/office/drawing/2014/main" id="{AE958DA4-4050-0E98-B312-7D6AB5CEA7B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233612"/>
            <a:ext cx="5372101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7;p13">
            <a:extLst>
              <a:ext uri="{FF2B5EF4-FFF2-40B4-BE49-F238E27FC236}">
                <a16:creationId xmlns:a16="http://schemas.microsoft.com/office/drawing/2014/main" id="{FA2F993D-4411-AE82-9EFB-35F3344375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005262"/>
            <a:ext cx="5372101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8;p13">
            <a:extLst>
              <a:ext uri="{FF2B5EF4-FFF2-40B4-BE49-F238E27FC236}">
                <a16:creationId xmlns:a16="http://schemas.microsoft.com/office/drawing/2014/main" id="{F93BDAB2-074F-3CF3-744A-4F0F13C58F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4005262"/>
            <a:ext cx="5372101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9;p13">
            <a:extLst>
              <a:ext uri="{FF2B5EF4-FFF2-40B4-BE49-F238E27FC236}">
                <a16:creationId xmlns:a16="http://schemas.microsoft.com/office/drawing/2014/main" id="{C907DF85-9397-A2ED-0CD1-AC3DC9024C70}"/>
              </a:ext>
            </a:extLst>
          </p:cNvPr>
          <p:cNvSpPr txBox="1"/>
          <p:nvPr/>
        </p:nvSpPr>
        <p:spPr>
          <a:xfrm>
            <a:off x="923925" y="2576512"/>
            <a:ext cx="49206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Sistemas Operacionais</a:t>
            </a:r>
            <a:endParaRPr/>
          </a:p>
        </p:txBody>
      </p:sp>
      <p:sp>
        <p:nvSpPr>
          <p:cNvPr id="10" name="Google Shape;90;p13">
            <a:extLst>
              <a:ext uri="{FF2B5EF4-FFF2-40B4-BE49-F238E27FC236}">
                <a16:creationId xmlns:a16="http://schemas.microsoft.com/office/drawing/2014/main" id="{4FAF24D6-3158-BB45-9D2B-9C73597CB878}"/>
              </a:ext>
            </a:extLst>
          </p:cNvPr>
          <p:cNvSpPr txBox="1"/>
          <p:nvPr/>
        </p:nvSpPr>
        <p:spPr>
          <a:xfrm>
            <a:off x="923925" y="307181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Núcleos de Windows, macOS e Linux.</a:t>
            </a:r>
            <a:endParaRPr/>
          </a:p>
        </p:txBody>
      </p:sp>
      <p:sp>
        <p:nvSpPr>
          <p:cNvPr id="11" name="Google Shape;91;p13">
            <a:extLst>
              <a:ext uri="{FF2B5EF4-FFF2-40B4-BE49-F238E27FC236}">
                <a16:creationId xmlns:a16="http://schemas.microsoft.com/office/drawing/2014/main" id="{0CA471AC-F651-DAA3-4DFE-9D189A5F82A4}"/>
              </a:ext>
            </a:extLst>
          </p:cNvPr>
          <p:cNvSpPr txBox="1"/>
          <p:nvPr/>
        </p:nvSpPr>
        <p:spPr>
          <a:xfrm>
            <a:off x="6581775" y="2576512"/>
            <a:ext cx="49206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Finanças</a:t>
            </a:r>
            <a:endParaRPr/>
          </a:p>
        </p:txBody>
      </p:sp>
      <p:sp>
        <p:nvSpPr>
          <p:cNvPr id="12" name="Google Shape;92;p13">
            <a:extLst>
              <a:ext uri="{FF2B5EF4-FFF2-40B4-BE49-F238E27FC236}">
                <a16:creationId xmlns:a16="http://schemas.microsoft.com/office/drawing/2014/main" id="{7CD486CA-C012-9409-A652-0C5C33A13962}"/>
              </a:ext>
            </a:extLst>
          </p:cNvPr>
          <p:cNvSpPr txBox="1"/>
          <p:nvPr/>
        </p:nvSpPr>
        <p:spPr>
          <a:xfrm>
            <a:off x="6581775" y="307181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Trading de alta frequência e microssegundos.</a:t>
            </a:r>
            <a:endParaRPr/>
          </a:p>
        </p:txBody>
      </p:sp>
      <p:sp>
        <p:nvSpPr>
          <p:cNvPr id="13" name="Google Shape;93;p13">
            <a:extLst>
              <a:ext uri="{FF2B5EF4-FFF2-40B4-BE49-F238E27FC236}">
                <a16:creationId xmlns:a16="http://schemas.microsoft.com/office/drawing/2014/main" id="{46A7BF4C-7D20-8D01-CCFD-703569F3F812}"/>
              </a:ext>
            </a:extLst>
          </p:cNvPr>
          <p:cNvSpPr txBox="1"/>
          <p:nvPr/>
        </p:nvSpPr>
        <p:spPr>
          <a:xfrm>
            <a:off x="923925" y="4348162"/>
            <a:ext cx="49206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Sistemas Embarcados</a:t>
            </a:r>
            <a:endParaRPr/>
          </a:p>
        </p:txBody>
      </p:sp>
      <p:sp>
        <p:nvSpPr>
          <p:cNvPr id="14" name="Google Shape;94;p13">
            <a:extLst>
              <a:ext uri="{FF2B5EF4-FFF2-40B4-BE49-F238E27FC236}">
                <a16:creationId xmlns:a16="http://schemas.microsoft.com/office/drawing/2014/main" id="{341E9F92-7F71-FA2D-A14B-43250CAA80DF}"/>
              </a:ext>
            </a:extLst>
          </p:cNvPr>
          <p:cNvSpPr txBox="1"/>
          <p:nvPr/>
        </p:nvSpPr>
        <p:spPr>
          <a:xfrm>
            <a:off x="923925" y="484346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Carros autônomos e dispositivos médicos.</a:t>
            </a:r>
            <a:endParaRPr/>
          </a:p>
        </p:txBody>
      </p:sp>
      <p:sp>
        <p:nvSpPr>
          <p:cNvPr id="15" name="Google Shape;95;p13">
            <a:extLst>
              <a:ext uri="{FF2B5EF4-FFF2-40B4-BE49-F238E27FC236}">
                <a16:creationId xmlns:a16="http://schemas.microsoft.com/office/drawing/2014/main" id="{5FE60BF0-FF4A-72D0-6258-CCCC030DD04E}"/>
              </a:ext>
            </a:extLst>
          </p:cNvPr>
          <p:cNvSpPr txBox="1"/>
          <p:nvPr/>
        </p:nvSpPr>
        <p:spPr>
          <a:xfrm>
            <a:off x="6581775" y="4348162"/>
            <a:ext cx="49206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Motores de Jogos</a:t>
            </a:r>
            <a:endParaRPr/>
          </a:p>
        </p:txBody>
      </p:sp>
      <p:sp>
        <p:nvSpPr>
          <p:cNvPr id="16" name="Google Shape;96;p13">
            <a:extLst>
              <a:ext uri="{FF2B5EF4-FFF2-40B4-BE49-F238E27FC236}">
                <a16:creationId xmlns:a16="http://schemas.microsoft.com/office/drawing/2014/main" id="{BF9B6143-BC59-6FE9-A50C-263BB48BD08A}"/>
              </a:ext>
            </a:extLst>
          </p:cNvPr>
          <p:cNvSpPr txBox="1"/>
          <p:nvPr/>
        </p:nvSpPr>
        <p:spPr>
          <a:xfrm>
            <a:off x="6581775" y="484346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Unreal Engine e Godot Engine.</a:t>
            </a:r>
            <a:endParaRPr/>
          </a:p>
        </p:txBody>
      </p:sp>
      <p:sp>
        <p:nvSpPr>
          <p:cNvPr id="17" name="Google Shape;97;p13">
            <a:extLst>
              <a:ext uri="{FF2B5EF4-FFF2-40B4-BE49-F238E27FC236}">
                <a16:creationId xmlns:a16="http://schemas.microsoft.com/office/drawing/2014/main" id="{6AF7E50D-187D-6239-E7DF-4095FB2F3357}"/>
              </a:ext>
            </a:extLst>
          </p:cNvPr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DOMÍNIOS DE ATUAÇÃO</a:t>
            </a:r>
            <a:endParaRPr sz="3150">
              <a:solidFill>
                <a:srgbClr val="F8FAFC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8" name="Google Shape;98;p13">
            <a:extLst>
              <a:ext uri="{FF2B5EF4-FFF2-40B4-BE49-F238E27FC236}">
                <a16:creationId xmlns:a16="http://schemas.microsoft.com/office/drawing/2014/main" id="{40148FC6-C9BF-5354-A17D-8DC27FCB07A6}"/>
              </a:ext>
            </a:extLst>
          </p:cNvPr>
          <p:cNvSpPr/>
          <p:nvPr/>
        </p:nvSpPr>
        <p:spPr>
          <a:xfrm>
            <a:off x="581025" y="581025"/>
            <a:ext cx="47700" cy="485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2087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" name="Google Shape;167;p19"/>
          <p:cNvGraphicFramePr/>
          <p:nvPr>
            <p:extLst>
              <p:ext uri="{D42A27DB-BD31-4B8C-83A1-F6EECF244321}">
                <p14:modId xmlns:p14="http://schemas.microsoft.com/office/powerpoint/2010/main" val="561603129"/>
              </p:ext>
            </p:extLst>
          </p:nvPr>
        </p:nvGraphicFramePr>
        <p:xfrm>
          <a:off x="581025" y="2643187"/>
          <a:ext cx="11029950" cy="2533625"/>
        </p:xfrm>
        <a:graphic>
          <a:graphicData uri="http://schemas.openxmlformats.org/drawingml/2006/table">
            <a:tbl>
              <a:tblPr firstRow="1" bandRow="1">
                <a:noFill/>
                <a:tableStyleId>{D47BDFCB-5731-4457-81EC-8861598AB319}</a:tableStyleId>
              </a:tblPr>
              <a:tblGrid>
                <a:gridCol w="229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D4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D4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Framework Líder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D4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Uso da POO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Interfaces (GUI)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Qt / wxWidgets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Exemplifica a </a:t>
                      </a:r>
                      <a:r>
                        <a:rPr lang="en-US" sz="1350" b="1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Herança</a:t>
                      </a: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de componentes visuais base.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Motores de Jogos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Unreal / Godot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Extrema flexibilidade e forte </a:t>
                      </a:r>
                      <a:r>
                        <a:rPr lang="en-US" sz="1350" b="1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Abstração</a:t>
                      </a: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Machine Learning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TensorFlow / PyTorch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Encapsulamento</a:t>
                      </a: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estrito de cálculos complexos.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Qualidade/Testes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Google Test (gtest)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Utiliza</a:t>
                      </a:r>
                      <a:r>
                        <a:rPr lang="en-US" sz="1350" b="0" i="0" u="none" strike="noStrike" cap="none" dirty="0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Polimorfismo</a:t>
                      </a:r>
                      <a:r>
                        <a:rPr lang="en-US" sz="1350" b="0" i="0" u="none" strike="noStrike" cap="none" dirty="0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dinâmico</a:t>
                      </a:r>
                      <a:r>
                        <a:rPr lang="en-US" sz="1350" b="0" i="0" u="none" strike="noStrike" cap="none" dirty="0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massivamente</a:t>
                      </a:r>
                      <a:r>
                        <a:rPr lang="en-US" sz="1350" b="0" i="0" u="none" strike="noStrike" cap="none" dirty="0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8" name="Google Shape;168;p19"/>
          <p:cNvSpPr/>
          <p:nvPr/>
        </p:nvSpPr>
        <p:spPr>
          <a:xfrm>
            <a:off x="581025" y="3648075"/>
            <a:ext cx="22955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2876550" y="3648075"/>
            <a:ext cx="267592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5552479" y="3648075"/>
            <a:ext cx="605849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81025" y="4152900"/>
            <a:ext cx="22955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2876550" y="4152900"/>
            <a:ext cx="267592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552479" y="4152900"/>
            <a:ext cx="605849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81025" y="4657725"/>
            <a:ext cx="22955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2876550" y="4657725"/>
            <a:ext cx="267592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552479" y="4657725"/>
            <a:ext cx="605849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81025" y="5162550"/>
            <a:ext cx="22955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876550" y="5162550"/>
            <a:ext cx="267592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552479" y="5162550"/>
            <a:ext cx="605849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ECOSSISTEMA E FRAMEWORKS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20"/>
          <p:cNvGraphicFramePr/>
          <p:nvPr>
            <p:extLst>
              <p:ext uri="{D42A27DB-BD31-4B8C-83A1-F6EECF244321}">
                <p14:modId xmlns:p14="http://schemas.microsoft.com/office/powerpoint/2010/main" val="763267333"/>
              </p:ext>
            </p:extLst>
          </p:nvPr>
        </p:nvGraphicFramePr>
        <p:xfrm>
          <a:off x="581025" y="2643187"/>
          <a:ext cx="11029925" cy="2533625"/>
        </p:xfrm>
        <a:graphic>
          <a:graphicData uri="http://schemas.openxmlformats.org/drawingml/2006/table">
            <a:tbl>
              <a:tblPr firstRow="1" bandRow="1">
                <a:noFill/>
                <a:tableStyleId>{D47BDFCB-5731-4457-81EC-8861598AB319}</a:tableStyleId>
              </a:tblPr>
              <a:tblGrid>
                <a:gridCol w="187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00D4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Pilar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D4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Implementação em C++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D4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Implementação em C#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Abstração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Baseada</a:t>
                      </a:r>
                      <a:r>
                        <a:rPr lang="en-US" sz="1350" b="0" i="0" u="none" strike="noStrike" cap="none" dirty="0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</a:t>
                      </a:r>
                      <a:r>
                        <a:rPr lang="en-US" sz="1350" b="0" i="0" u="none" strike="noStrike" cap="none" dirty="0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Funções </a:t>
                      </a:r>
                      <a:r>
                        <a:rPr lang="en-US" sz="1350" b="0" i="0" u="none" strike="noStrike" cap="none" dirty="0" err="1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Virtuais</a:t>
                      </a:r>
                      <a:r>
                        <a:rPr lang="en-US" sz="1350" b="0" i="0" u="none" strike="noStrike" cap="none" dirty="0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Puras (= 0).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Utiliza palavras-chave explícitas nativas (interface).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Encapsulamento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Modificadores como rótulos de bloco (public:).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Aplicados membro a membro (Properties).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Herança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Suporta </a:t>
                      </a:r>
                      <a:r>
                        <a:rPr lang="en-US" sz="1350" b="1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Herança Múltipla</a:t>
                      </a: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de classes.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Suporta apenas Herança Simples de classes.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Polimorfismo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Exige ponteiros (*) ou referências (&amp;).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Gerenciado</a:t>
                      </a:r>
                      <a:r>
                        <a:rPr lang="en-US" sz="1350" b="0" i="0" u="none" strike="noStrike" cap="none" dirty="0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nativamente</a:t>
                      </a:r>
                      <a:r>
                        <a:rPr lang="en-US" sz="1350" b="0" i="0" u="none" strike="noStrike" cap="none" dirty="0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pela CLR (.NET).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8" name="Google Shape;188;p20"/>
          <p:cNvSpPr/>
          <p:nvPr/>
        </p:nvSpPr>
        <p:spPr>
          <a:xfrm>
            <a:off x="581025" y="3648075"/>
            <a:ext cx="187210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2453133" y="3648075"/>
            <a:ext cx="43419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6795045" y="3648075"/>
            <a:ext cx="481592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81025" y="4152900"/>
            <a:ext cx="187210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2453133" y="4152900"/>
            <a:ext cx="43419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6795045" y="4152900"/>
            <a:ext cx="481592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81025" y="4657725"/>
            <a:ext cx="187210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2453133" y="4657725"/>
            <a:ext cx="43419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795045" y="4657725"/>
            <a:ext cx="481592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81025" y="5162550"/>
            <a:ext cx="187210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453133" y="5162550"/>
            <a:ext cx="434191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795045" y="5162550"/>
            <a:ext cx="481592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MAPEAMENTO DOS PILARES: C++ VS C#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14575"/>
            <a:ext cx="348615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14575"/>
            <a:ext cx="348615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14575"/>
            <a:ext cx="348615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2600325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793908" y="3267075"/>
            <a:ext cx="30603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Memória (RAII)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66775" y="3733800"/>
            <a:ext cx="2914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C++: Gestão manual via Destrutores. Controle total vs Garbage Collector do C#.</a:t>
            </a:r>
            <a:endParaRPr/>
          </a:p>
        </p:txBody>
      </p:sp>
      <p:pic>
        <p:nvPicPr>
          <p:cNvPr id="213" name="Google Shape;21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6003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4565808" y="3267075"/>
            <a:ext cx="30603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Diamante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638675" y="3733800"/>
            <a:ext cx="2914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C++: Soluciona a ambiguidade da herança múltipla exigindo o uso da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Herança Virtual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216" name="Google Shape;216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9775" y="26003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8337708" y="3267075"/>
            <a:ext cx="30603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VTable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410575" y="3733800"/>
            <a:ext cx="29146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C++: Tabela Virtual (matriz leve de ponteiros de função) para manter o Polimorfismo extremamente veloz.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DIFERENÇAS DE ARQUITETURA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095625"/>
            <a:ext cx="5229225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581025" y="249078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Dinâmica do Sistema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581025" y="295751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sistema solicita distância e carga no console e instancia dois veículos usando alocação dinâmica (</a:t>
            </a: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new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581025" y="3709987"/>
            <a:ext cx="5229225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função exibirRelatorio trata ambos como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Veiculo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Ao chamar calcularCustoViagem(), o método da classe filha correspondente é executado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(Polimorfismo)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581025" y="478631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Ao final, a memória é liberada com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delete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381750" y="262890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D4FF"/>
                </a:solidFill>
                <a:latin typeface="Urbanist"/>
                <a:ea typeface="Urbanist"/>
                <a:cs typeface="Urbanist"/>
                <a:sym typeface="Urbanist"/>
              </a:rPr>
              <a:t>Saída no Console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CASO PRÁTICO: GESTÃO DE FROTA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581025" y="147161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 diagrama representa o relacionamento "É-UM" (Herança) entre a superclasse e as especializações.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MODELAGEM DO SISTEMA (UML)</a:t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816E624-2AB2-489B-5CFA-CC9CAB784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6420" y="2059303"/>
            <a:ext cx="5979160" cy="40859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/>
        </p:nvSpPr>
        <p:spPr>
          <a:xfrm>
            <a:off x="305276" y="1114425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Referências</a:t>
            </a: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5619750" y="2543175"/>
            <a:ext cx="952500" cy="47625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581025" y="287655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Stroustrup, B. 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Design and Evolution of C++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Addison-Wesley, 1994.</a:t>
            </a:r>
            <a:endParaRPr dirty="0"/>
          </a:p>
        </p:txBody>
      </p:sp>
      <p:sp>
        <p:nvSpPr>
          <p:cNvPr id="254" name="Google Shape;254;p24"/>
          <p:cNvSpPr txBox="1"/>
          <p:nvPr/>
        </p:nvSpPr>
        <p:spPr>
          <a:xfrm>
            <a:off x="581025" y="332422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Stroustrup, B. 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C++ Programming Language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4ª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Edição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2013.</a:t>
            </a:r>
            <a:endParaRPr dirty="0"/>
          </a:p>
        </p:txBody>
      </p:sp>
      <p:sp>
        <p:nvSpPr>
          <p:cNvPr id="255" name="Google Shape;255;p24"/>
          <p:cNvSpPr txBox="1"/>
          <p:nvPr/>
        </p:nvSpPr>
        <p:spPr>
          <a:xfrm>
            <a:off x="581025" y="377190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ISO/IEC 14882. 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Programming languages — C++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56" name="Google Shape;256;p24"/>
          <p:cNvSpPr txBox="1"/>
          <p:nvPr/>
        </p:nvSpPr>
        <p:spPr>
          <a:xfrm>
            <a:off x="581025" y="421957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4. Lion, D. 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Why JavaScript and Python are slower than C++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USENIX, 2022.</a:t>
            </a:r>
            <a:endParaRPr dirty="0"/>
          </a:p>
        </p:txBody>
      </p:sp>
      <p:sp>
        <p:nvSpPr>
          <p:cNvPr id="2" name="Google Shape;256;p24">
            <a:extLst>
              <a:ext uri="{FF2B5EF4-FFF2-40B4-BE49-F238E27FC236}">
                <a16:creationId xmlns:a16="http://schemas.microsoft.com/office/drawing/2014/main" id="{09D87C2A-A22B-81EB-A5FF-629A5352169D}"/>
              </a:ext>
            </a:extLst>
          </p:cNvPr>
          <p:cNvSpPr txBox="1"/>
          <p:nvPr/>
        </p:nvSpPr>
        <p:spPr>
          <a:xfrm>
            <a:off x="581025" y="4667250"/>
            <a:ext cx="11029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5. Chou, L. A comparison of C++, Java and Python.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OAKTrust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Texas A&amp;M University, 1997.</a:t>
            </a:r>
          </a:p>
        </p:txBody>
      </p:sp>
      <p:sp>
        <p:nvSpPr>
          <p:cNvPr id="3" name="Google Shape;256;p24">
            <a:extLst>
              <a:ext uri="{FF2B5EF4-FFF2-40B4-BE49-F238E27FC236}">
                <a16:creationId xmlns:a16="http://schemas.microsoft.com/office/drawing/2014/main" id="{80DFE3D4-9C05-6EEF-574B-627904A8DC0F}"/>
              </a:ext>
            </a:extLst>
          </p:cNvPr>
          <p:cNvSpPr txBox="1"/>
          <p:nvPr/>
        </p:nvSpPr>
        <p:spPr>
          <a:xfrm>
            <a:off x="581025" y="5114925"/>
            <a:ext cx="11029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6.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Fourment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M. A comparison of common programming languages used in bioinformatics. PMC, 2008.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650</Words>
  <Application>Microsoft Office PowerPoint</Application>
  <PresentationFormat>Widescreen</PresentationFormat>
  <Paragraphs>85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Calibri</vt:lpstr>
      <vt:lpstr>Urbanist</vt:lpstr>
      <vt:lpstr>Arial</vt:lpstr>
      <vt:lpstr>Urbanist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VITOR HUGO SANTOS AGUIAR</cp:lastModifiedBy>
  <cp:revision>2</cp:revision>
  <dcterms:modified xsi:type="dcterms:W3CDTF">2026-05-18T02:41:45Z</dcterms:modified>
</cp:coreProperties>
</file>