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013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734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71500" y="857250"/>
            <a:ext cx="7216973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endParaRPr lang="en-US" sz="3750" dirty="0"/>
          </a:p>
        </p:txBody>
      </p:sp>
      <p:sp>
        <p:nvSpPr>
          <p:cNvPr id="5" name="Text 1"/>
          <p:cNvSpPr/>
          <p:nvPr/>
        </p:nvSpPr>
        <p:spPr>
          <a:xfrm>
            <a:off x="571500" y="2263118"/>
            <a:ext cx="65" cy="310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571500" y="2991780"/>
            <a:ext cx="65" cy="196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6667"/>
              </a:lnSpc>
              <a:buNone/>
            </a:pPr>
            <a:endParaRPr lang="en-US" sz="1250" dirty="0"/>
          </a:p>
        </p:txBody>
      </p:sp>
      <p:pic>
        <p:nvPicPr>
          <p:cNvPr id="1026" name="Picture 2" descr="O que é C++ e por que ainda é relevante? – COMPRACO Indústria e Construção">
            <a:extLst>
              <a:ext uri="{FF2B5EF4-FFF2-40B4-BE49-F238E27FC236}">
                <a16:creationId xmlns:a16="http://schemas.microsoft.com/office/drawing/2014/main" id="{5F467408-A9F5-B4E3-7895-BD7E187D0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14325"/>
            <a:ext cx="8572500" cy="814388"/>
          </a:xfrm>
          <a:prstGeom prst="rect">
            <a:avLst/>
          </a:prstGeom>
          <a:noFill/>
          <a:ln/>
        </p:spPr>
        <p:txBody>
          <a:bodyPr wrap="square" lIns="0" tIns="510286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3879C9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O Criador e o Contexto de Surgimento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1500" y="1414463"/>
            <a:ext cx="2571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879C9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O Criador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785938"/>
            <a:ext cx="2571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Bjarne Stroustrup concebeu a linguagem no final da década de 1970. Sua visão era estender o C com recursos de abstração de alto nível.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71500" y="2545966"/>
            <a:ext cx="2571750" cy="90290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71500" y="2545966"/>
            <a:ext cx="28575" cy="902903"/>
          </a:xfrm>
          <a:prstGeom prst="rect">
            <a:avLst/>
          </a:prstGeom>
          <a:solidFill>
            <a:srgbClr val="3879C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14375" y="2688841"/>
            <a:ext cx="22860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i="1" dirty="0">
                <a:solidFill>
                  <a:srgbClr val="333333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"Eu queria construir um sistema multi-computador com um sistema de comunicação."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429000" y="1414463"/>
            <a:ext cx="2571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879C9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A Instituição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429000" y="1785938"/>
            <a:ext cx="2571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 desenvolvimento ocorreu no renomado Bell Labs (AT&amp;T), em Nova Jersey, um centro de inovação tecnológica global.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429000" y="2517391"/>
            <a:ext cx="2571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 ambiente proporcionou os recursos necessários para a criação de uma linguagem de sistemas robusta.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286500" y="1414463"/>
            <a:ext cx="2571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879C9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O Projeto Inicial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86500" y="1785938"/>
            <a:ext cx="2571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Iniciado em 1979 como "C with Classes", o projeto visava unir a eficiência do C com a organização do Simula.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286500" y="2517391"/>
            <a:ext cx="2571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 lançamento comercial ocorreu em 1985, consolidando a linguagem no mercado.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363295" y="4772025"/>
            <a:ext cx="249495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750" i="1" dirty="0">
                <a:solidFill>
                  <a:srgbClr val="9CA3A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Fonte: Stroustrup, B. (1994). The Design and Evolution of C++.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00050"/>
            <a:ext cx="828675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3879C9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A Síntese entre Abstração e Eficiência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1500" y="880104"/>
            <a:ext cx="38576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 desenvolvimento do C++ foi impulsionado pela necessidade de uma linguagem que pudesse lidar com a complexidade de sistemas distribuídos sem sacrificar o desempenho.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594479"/>
            <a:ext cx="3857625" cy="97155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571500" y="1594479"/>
            <a:ext cx="28575" cy="971550"/>
          </a:xfrm>
          <a:prstGeom prst="rect">
            <a:avLst/>
          </a:prstGeom>
          <a:solidFill>
            <a:srgbClr val="3879C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57225" y="1680204"/>
            <a:ext cx="36861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Insight Principal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7225" y="1880229"/>
            <a:ext cx="36861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 C++ não foi criado para substituir o C, mas para evoluí-lo, integrando os conceitos de classes do Simula em uma base de alta performance.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07231" y="2737479"/>
            <a:ext cx="37218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1. Camada de Abstração (Simula)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07231" y="2937504"/>
            <a:ext cx="372189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Forneceu os conceitos de classes e objetos para organização de sistemas complexos.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7231" y="3451854"/>
            <a:ext cx="37218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2. Camada de Eficiência (C)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07231" y="3651879"/>
            <a:ext cx="372189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Garantiu o acesso direto ao hardware e a velocidade necessária para sistemas de baixo nível.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07231" y="4166229"/>
            <a:ext cx="37218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3. Camada de Integração (C++)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07231" y="4366254"/>
            <a:ext cx="372189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A união multiparadigma que permite o uso simultâneo de POO e programação procedural.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714875" y="880104"/>
            <a:ext cx="3857625" cy="388620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5539978" y="1387311"/>
            <a:ext cx="914400" cy="91440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788223" y="1673061"/>
            <a:ext cx="4179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SIMULA
</a:t>
            </a:r>
            <a:r>
              <a:rPr lang="en-US" sz="600" dirty="0">
                <a:solidFill>
                  <a:srgbClr val="6B728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Abstração</a:t>
            </a:r>
            <a:endParaRPr lang="en-US" sz="8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8678" y="1758786"/>
            <a:ext cx="150019" cy="17145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832997" y="1387311"/>
            <a:ext cx="914400" cy="91440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6"/>
          <p:cNvSpPr/>
          <p:nvPr/>
        </p:nvSpPr>
        <p:spPr>
          <a:xfrm>
            <a:off x="7127677" y="1673061"/>
            <a:ext cx="3250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C
</a:t>
            </a:r>
            <a:r>
              <a:rPr lang="en-US" sz="600" dirty="0">
                <a:solidFill>
                  <a:srgbClr val="6B728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Eficiência</a:t>
            </a:r>
            <a:endParaRPr lang="en-US" sz="8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3320" y="2530311"/>
            <a:ext cx="160734" cy="21431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00813" y="3030373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C++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943475" y="3716173"/>
            <a:ext cx="1076306" cy="5429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5903" y="3801898"/>
            <a:ext cx="171450" cy="17145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029200" y="4030498"/>
            <a:ext cx="90485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4286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Classes</a:t>
            </a:r>
            <a:endParaRPr lang="en-US" sz="700" dirty="0"/>
          </a:p>
        </p:txBody>
      </p:sp>
      <p:sp>
        <p:nvSpPr>
          <p:cNvPr id="26" name="Shape 20"/>
          <p:cNvSpPr/>
          <p:nvPr/>
        </p:nvSpPr>
        <p:spPr>
          <a:xfrm>
            <a:off x="6105506" y="3716173"/>
            <a:ext cx="1076334" cy="5429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7935" y="3801898"/>
            <a:ext cx="171450" cy="1714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191231" y="4030498"/>
            <a:ext cx="90488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4286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Hardware</a:t>
            </a:r>
            <a:endParaRPr lang="en-US" sz="700" dirty="0"/>
          </a:p>
        </p:txBody>
      </p:sp>
      <p:sp>
        <p:nvSpPr>
          <p:cNvPr id="29" name="Shape 22"/>
          <p:cNvSpPr/>
          <p:nvPr/>
        </p:nvSpPr>
        <p:spPr>
          <a:xfrm>
            <a:off x="7267566" y="3716173"/>
            <a:ext cx="1076334" cy="5429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8563" y="3801898"/>
            <a:ext cx="214313" cy="17145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353291" y="4030498"/>
            <a:ext cx="90488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4286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Sistemas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00050"/>
            <a:ext cx="828675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3879C9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A Evolução do Nome e Consolidação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1500" y="880104"/>
            <a:ext cx="38576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A transição de "C with Classes" para "C++" em 1983 não foi apenas estética, mas representou a maturidade de uma nova linguagem independente.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594479"/>
            <a:ext cx="3857625" cy="97155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571500" y="1594479"/>
            <a:ext cx="28575" cy="971550"/>
          </a:xfrm>
          <a:prstGeom prst="rect">
            <a:avLst/>
          </a:prstGeom>
          <a:solidFill>
            <a:srgbClr val="3879C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57225" y="1680204"/>
            <a:ext cx="36861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Insight Principal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7225" y="1880229"/>
            <a:ext cx="36861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 nome C++ simboliza uma evolução incremental: mantém a base sólida do C, mas adiciona uma nova dimensão de poder através da POO.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" y="2680329"/>
            <a:ext cx="3857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Marcos da Consolidação: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78656" y="2994654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1983: O Batismo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78656" y="3194679"/>
            <a:ext cx="37504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Rick Mascitti sugere o nome C++, usando o operador de incremento.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78656" y="3423279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1985: O Lançamento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78656" y="3623304"/>
            <a:ext cx="37504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Publicação do livro de referência e lançamento do compilador Cfront.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78656" y="3851904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1989: Padronização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78656" y="4051929"/>
            <a:ext cx="37504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Início dos esforços ANSI/ISO para criar um padrão universal.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78656" y="4280529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1998: ISO C++98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78656" y="4480554"/>
            <a:ext cx="37504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 primeiro padrão internacional oficial é ratificado.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4910436" y="4394346"/>
            <a:ext cx="38576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C757D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Fonte: ISO/IEC JTC1/SC22/WG21 - The C++ Standards Committee</a:t>
            </a:r>
            <a:endParaRPr lang="en-US" sz="750" dirty="0"/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5C0C582B-377A-FD04-CF44-E17637D242C6}"/>
              </a:ext>
            </a:extLst>
          </p:cNvPr>
          <p:cNvGrpSpPr/>
          <p:nvPr/>
        </p:nvGrpSpPr>
        <p:grpSpPr>
          <a:xfrm>
            <a:off x="4882370" y="769563"/>
            <a:ext cx="3025554" cy="3592932"/>
            <a:chOff x="4695713" y="851065"/>
            <a:chExt cx="2955924" cy="3510244"/>
          </a:xfrm>
        </p:grpSpPr>
        <p:pic>
          <p:nvPicPr>
            <p:cNvPr id="18" name="Image 1" descr="preencoded.png"/>
            <p:cNvPicPr>
              <a:picLocks noChangeAspect="1"/>
            </p:cNvPicPr>
            <p:nvPr/>
          </p:nvPicPr>
          <p:blipFill>
            <a:blip r:embed="rId4"/>
            <a:srcRect t="8000" r="38131"/>
            <a:stretch>
              <a:fillRect/>
            </a:stretch>
          </p:blipFill>
          <p:spPr>
            <a:xfrm>
              <a:off x="4695713" y="1105402"/>
              <a:ext cx="2955924" cy="3255907"/>
            </a:xfrm>
            <a:prstGeom prst="rect">
              <a:avLst/>
            </a:prstGeom>
          </p:spPr>
        </p:pic>
        <p:pic>
          <p:nvPicPr>
            <p:cNvPr id="20" name="Image 1" descr="preencoded.png">
              <a:extLst>
                <a:ext uri="{FF2B5EF4-FFF2-40B4-BE49-F238E27FC236}">
                  <a16:creationId xmlns:a16="http://schemas.microsoft.com/office/drawing/2014/main" id="{322B6052-D7D2-024C-E28B-CB98B2EC1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3392" t="1" r="13210" b="90771"/>
            <a:stretch>
              <a:fillRect/>
            </a:stretch>
          </p:blipFill>
          <p:spPr>
            <a:xfrm>
              <a:off x="4723133" y="851065"/>
              <a:ext cx="2901084" cy="2701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664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00050"/>
            <a:ext cx="828675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3879C9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Suporte Nativo à Orientação a Objetos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1500" y="880104"/>
            <a:ext cx="38862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 C++ foi projetado para oferecer os benefícios da Programação Orientada a Objetos (POO) sem comprometer a eficiência de execução próxima ao hardware.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594479"/>
            <a:ext cx="3886200" cy="9144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571500" y="1594479"/>
            <a:ext cx="28575" cy="914400"/>
          </a:xfrm>
          <a:prstGeom prst="rect">
            <a:avLst/>
          </a:prstGeom>
          <a:solidFill>
            <a:srgbClr val="3879C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28650" y="1651629"/>
            <a:ext cx="37719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Insight Principal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8650" y="1851654"/>
            <a:ext cx="37719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Diferente de linguagens puras, o C++ permite o uso de abstrações complexas com custo de execução zero ou mínimo (Zero-overhead principle).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07231" y="2708904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Abstração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07231" y="2908929"/>
            <a:ext cx="37504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Modelagem de entidades do mundo real através de classes e interfaces.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7231" y="3480429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Encapsulamento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07231" y="3680454"/>
            <a:ext cx="37504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Controle de acesso rigoroso via modificadores public, private e protected.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07231" y="4251954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Herança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07231" y="4451979"/>
            <a:ext cx="37504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Reaproveitamento e extensão de código através de hierarquias de classes.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07231" y="5023479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Polimorfismo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07231" y="5223504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Flexibilidade via funções virtuais e sobrecarga de operadores.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86300" y="880104"/>
            <a:ext cx="3886200" cy="11430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298" y="1237292"/>
            <a:ext cx="482203" cy="428625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2194554"/>
            <a:ext cx="3886200" cy="17145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86300" y="3966204"/>
            <a:ext cx="38862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C757D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Fonte: Benchmarks de Performance de Linguagens, 2025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00050"/>
            <a:ext cx="828675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3879C9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Aplicabilidade do C++ no Mundo Real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1500" y="880104"/>
            <a:ext cx="38862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 C++ permanece como a espinha dorsal da infraestrutura tecnológica global, sendo insubstituível em cenários de missão crítica.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594479"/>
            <a:ext cx="3886200" cy="7143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571500" y="1594479"/>
            <a:ext cx="28575" cy="714375"/>
          </a:xfrm>
          <a:prstGeom prst="rect">
            <a:avLst/>
          </a:prstGeom>
          <a:solidFill>
            <a:srgbClr val="3879C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28650" y="1651629"/>
            <a:ext cx="37719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Insight Principal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8650" y="1851654"/>
            <a:ext cx="3771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Onde quer que a latência precise ser mínima e o controle sobre a memória precise ser total, o C++ é a ferramenta definitiva.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07231" y="2508879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Desenvolvimento de Jogos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07231" y="2708904"/>
            <a:ext cx="37504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Base da Unreal Engine e de quase todos os motores gráficos AAA modernos.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7231" y="3280404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Sistemas Operacionais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07231" y="3480429"/>
            <a:ext cx="37504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Núcleos do Windows, macOS e partes críticas do Linux e Android.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07231" y="3794754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Finanças de Alta Frequência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07231" y="3994779"/>
            <a:ext cx="37504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Sistemas de trading que executam milhares de ordens em microssegundos.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707231" y="4309104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Sistemas Embarcados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07231" y="4509129"/>
            <a:ext cx="37504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Software para carros autônomos, sondas espaciais e dispositivos médicos.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686300" y="880104"/>
            <a:ext cx="3886200" cy="11430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088" y="1237292"/>
            <a:ext cx="428625" cy="428625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2194554"/>
            <a:ext cx="3886200" cy="17145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86300" y="3966204"/>
            <a:ext cx="38862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C757D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Fonte: Stack Overflow Developer Survey &amp; TIOBE Index, 2025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00050"/>
            <a:ext cx="828675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3879C9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Mapeamento dos Pilares da POO no C++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571500" y="937254"/>
            <a:ext cx="3914775" cy="1700213"/>
          </a:xfrm>
          <a:prstGeom prst="rect">
            <a:avLst/>
          </a:prstGeom>
          <a:solidFill>
            <a:srgbClr val="F8F9FA"/>
          </a:solidFill>
          <a:ln w="18288">
            <a:solidFill>
              <a:srgbClr val="E1EB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14375" y="1080129"/>
            <a:ext cx="74830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879C9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Abstração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4375" y="1423029"/>
            <a:ext cx="362902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 C++ utiliza </a:t>
            </a:r>
            <a:r>
              <a:rPr lang="en-US" sz="900" b="1" dirty="0">
                <a:solidFill>
                  <a:srgbClr val="121211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Classes Abstratas</a:t>
            </a:r>
            <a:r>
              <a:rPr lang="en-US" sz="9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 e </a:t>
            </a:r>
            <a:r>
              <a:rPr lang="en-US" sz="900" b="1" dirty="0">
                <a:solidFill>
                  <a:srgbClr val="121211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Funções Virtuais Puras</a:t>
            </a:r>
            <a:r>
              <a:rPr lang="en-US" sz="9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 (= 0) para definir interfaces. Isso permite focar no "o que" um objeto faz, escondendo o "como" ele faz.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657725" y="937254"/>
            <a:ext cx="3914775" cy="1700213"/>
          </a:xfrm>
          <a:prstGeom prst="rect">
            <a:avLst/>
          </a:prstGeom>
          <a:solidFill>
            <a:srgbClr val="F8F9FA"/>
          </a:solidFill>
          <a:ln w="18288">
            <a:solidFill>
              <a:srgbClr val="E1EB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4800600" y="1080129"/>
            <a:ext cx="123229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879C9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Encapsulamento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00600" y="1423029"/>
            <a:ext cx="362902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Implementado através de modificadores de acesso: </a:t>
            </a:r>
            <a:r>
              <a:rPr lang="en-US" sz="900" b="1" dirty="0">
                <a:solidFill>
                  <a:srgbClr val="121211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public</a:t>
            </a:r>
            <a:r>
              <a:rPr lang="en-US" sz="9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, </a:t>
            </a:r>
            <a:r>
              <a:rPr lang="en-US" sz="900" b="1" dirty="0">
                <a:solidFill>
                  <a:srgbClr val="121211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private</a:t>
            </a:r>
            <a:r>
              <a:rPr lang="en-US" sz="9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 e </a:t>
            </a:r>
            <a:r>
              <a:rPr lang="en-US" sz="900" b="1" dirty="0">
                <a:solidFill>
                  <a:srgbClr val="121211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protected</a:t>
            </a:r>
            <a:r>
              <a:rPr lang="en-US" sz="9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. Garante a integridade dos dados ao restringir o acesso direto aos atributos da classe.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1500" y="2808917"/>
            <a:ext cx="3914775" cy="1700213"/>
          </a:xfrm>
          <a:prstGeom prst="rect">
            <a:avLst/>
          </a:prstGeom>
          <a:solidFill>
            <a:srgbClr val="F8F9FA"/>
          </a:solidFill>
          <a:ln w="18288">
            <a:solidFill>
              <a:srgbClr val="E1EB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714375" y="2951792"/>
            <a:ext cx="617934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879C9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Herança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14375" y="3294692"/>
            <a:ext cx="362902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Permite que classes derivem propriedades de outras. O C++ suporta </a:t>
            </a:r>
            <a:r>
              <a:rPr lang="en-US" sz="900" b="1" dirty="0">
                <a:solidFill>
                  <a:srgbClr val="121211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Herança Múltipla</a:t>
            </a:r>
            <a:r>
              <a:rPr lang="en-US" sz="9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, permitindo que uma classe herde comportamentos de diversas bases simultaneamente.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57725" y="2808917"/>
            <a:ext cx="3914775" cy="1700213"/>
          </a:xfrm>
          <a:prstGeom prst="rect">
            <a:avLst/>
          </a:prstGeom>
          <a:solidFill>
            <a:srgbClr val="F8F9FA"/>
          </a:solidFill>
          <a:ln w="18288">
            <a:solidFill>
              <a:srgbClr val="E1EB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4800600" y="2951792"/>
            <a:ext cx="101977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879C9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Polimorfismo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00600" y="3294692"/>
            <a:ext cx="362902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Manifesta-se de duas formas: </a:t>
            </a:r>
            <a:r>
              <a:rPr lang="en-US" sz="900" b="1" dirty="0">
                <a:solidFill>
                  <a:srgbClr val="121211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Estático</a:t>
            </a:r>
            <a:r>
              <a:rPr lang="en-US" sz="9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 (sobrecarga de funções e templates) e </a:t>
            </a:r>
            <a:r>
              <a:rPr lang="en-US" sz="900" b="1" dirty="0">
                <a:solidFill>
                  <a:srgbClr val="121211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Dinâmico</a:t>
            </a:r>
            <a:r>
              <a:rPr lang="en-US" sz="9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 (funções virtuais e sobrescrita), permitindo que uma mesma interface trate diferentes tipos de dados.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816</Words>
  <Application>Microsoft Office PowerPoint</Application>
  <PresentationFormat>Apresentação na tela (16:9)</PresentationFormat>
  <Paragraphs>83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Crimson Text</vt:lpstr>
      <vt:lpstr>Crimson Text Bold</vt:lpstr>
      <vt:lpstr>Crimson Text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VITOR HUGO SANTOS AGUIAR</cp:lastModifiedBy>
  <cp:revision>3</cp:revision>
  <dcterms:created xsi:type="dcterms:W3CDTF">2026-05-11T18:47:43Z</dcterms:created>
  <dcterms:modified xsi:type="dcterms:W3CDTF">2026-05-12T16:37:59Z</dcterms:modified>
</cp:coreProperties>
</file>