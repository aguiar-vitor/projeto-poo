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34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857250"/>
            <a:ext cx="7216973" cy="12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Introdução e Contexto Histórico:
Linguagem C++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571500" y="2263118"/>
            <a:ext cx="48148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21211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Trabalho de Programação Orientada a Objetos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71500" y="2991780"/>
            <a:ext cx="9126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Maio de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14325"/>
            <a:ext cx="8572500" cy="814388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O Criador e o Contexto de Surgimento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414463"/>
            <a:ext cx="2571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79C9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O Criador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785938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Bjarne Stroustrup concebeu a linguagem no final da década de 1970. Sua visão era estender o C com recursos de abstração de alto nível.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545966"/>
            <a:ext cx="2571750" cy="90290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2545966"/>
            <a:ext cx="28575" cy="902903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14375" y="2688841"/>
            <a:ext cx="2286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"Eu queria construir um sistema multi-computador com um sistema de comunicação."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29000" y="1414463"/>
            <a:ext cx="2571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79C9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A Instituição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29000" y="1785938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desenvolvimento ocorreu no renomado Bell Labs (AT&amp;T), em Nova Jersey, um centro de inovação tecnológica global.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29000" y="2517391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ambiente proporcionou os recursos necessários para a criação de uma linguagem de sistemas robusta.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86500" y="1414463"/>
            <a:ext cx="2571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79C9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O Projeto Inicial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86500" y="1785938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Iniciado em 1979 como "C with Classes", o projeto visava unir a eficiência do C com a organização do Simula.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86500" y="2517391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lançamento comercial ocorreu em 1985, consolidando a linguagem no mercado.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63295" y="4772025"/>
            <a:ext cx="249495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i="1" dirty="0">
                <a:solidFill>
                  <a:srgbClr val="9CA3A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Stroustrup, B. (1994). The Design and Evolution of C++.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 Síntese entre Abstração e Eficiência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57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desenvolvimento do C++ foi impulsionado pela necessidade de uma linguagem que pudesse lidar com a complexidade de sistemas distribuídos sem sacrificar o desempenho.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57625" cy="9715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971550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7225" y="1680204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7225" y="1880229"/>
            <a:ext cx="36861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não foi criado para substituir o C, mas para evoluí-lo, integrando os conceitos de classes do Simula em uma base de alta performance.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7231" y="2737479"/>
            <a:ext cx="37218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1. Camada de Abstração (Simula)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7231" y="2937504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Forneceu os conceitos de classes e objetos para organização de sistemas complexos.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7231" y="3451854"/>
            <a:ext cx="37218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2. Camada de Eficiência (C)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7231" y="3651879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Garantiu o acesso direto ao hardware e a velocidade necessária para sistemas de baixo nível.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7231" y="4166229"/>
            <a:ext cx="37218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3. Camada de Integração (C++)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7231" y="4366254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 união multiparadigma que permite o uso simultâneo de POO e programação procedural.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14875" y="880104"/>
            <a:ext cx="3857625" cy="3886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539978" y="1387311"/>
            <a:ext cx="914400" cy="9144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788223" y="1673061"/>
            <a:ext cx="4179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SIMULA
</a:t>
            </a:r>
            <a:r>
              <a:rPr lang="en-US" sz="600" dirty="0">
                <a:solidFill>
                  <a:srgbClr val="6B728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Abstração</a:t>
            </a:r>
            <a:endParaRPr lang="en-US" sz="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678" y="1758786"/>
            <a:ext cx="150019" cy="17145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832997" y="1387311"/>
            <a:ext cx="914400" cy="9144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7127677" y="1673061"/>
            <a:ext cx="325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
</a:t>
            </a:r>
            <a:r>
              <a:rPr lang="en-US" sz="600" dirty="0">
                <a:solidFill>
                  <a:srgbClr val="6B728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Eficiência</a:t>
            </a:r>
            <a:endParaRPr lang="en-US" sz="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320" y="2530311"/>
            <a:ext cx="160734" cy="2143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00813" y="3030373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C++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943475" y="3716173"/>
            <a:ext cx="1076306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903" y="3801898"/>
            <a:ext cx="171450" cy="1714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0" y="4030498"/>
            <a:ext cx="9048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4286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Classes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6105506" y="3716173"/>
            <a:ext cx="1076334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7935" y="3801898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91231" y="4030498"/>
            <a:ext cx="904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4286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Hardware</a:t>
            </a:r>
            <a:endParaRPr lang="en-US" sz="700" dirty="0"/>
          </a:p>
        </p:txBody>
      </p:sp>
      <p:sp>
        <p:nvSpPr>
          <p:cNvPr id="29" name="Shape 22"/>
          <p:cNvSpPr/>
          <p:nvPr/>
        </p:nvSpPr>
        <p:spPr>
          <a:xfrm>
            <a:off x="7267566" y="3716173"/>
            <a:ext cx="1076334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8563" y="3801898"/>
            <a:ext cx="214313" cy="1714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53291" y="4030498"/>
            <a:ext cx="904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4286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Sistemas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 Evolução do Nome e Consolidação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57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 transição de "C with Classes" para "C++" em 1983 não foi apenas estética, mas representou a maturidade de uma nova linguagem independente.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57625" cy="9715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971550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7225" y="1680204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7225" y="1880229"/>
            <a:ext cx="36861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nome C++ simboliza uma evolução incremental: mantém a base sólida do C, mas adiciona uma nova dimensão de poder através da POO.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680329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Marcos da Consolidação: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8656" y="299465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1983: O Batismo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8656" y="319467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Rick Mascitti sugere o nome C++, usando o operador de incremento.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78656" y="342327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1985: O Lançamento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8656" y="3623304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Publicação do livro de referência e lançamento do compilador Cfront.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78656" y="38519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1989: Padronização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8656" y="405192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Início dos esforços ANSI/ISO para criar um padrão universal.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78656" y="428052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1998: ISO C++98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78656" y="4480554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primeiro padrão internacional oficial é ratificado.</a:t>
            </a:r>
            <a:endParaRPr lang="en-US" sz="7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880104"/>
            <a:ext cx="3857625" cy="28575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14875" y="3794754"/>
            <a:ext cx="3857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ISO/IEC JTC1/SC22/WG21 - The C++ Standards Committee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664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Suporte Nativo à Orientação a Objetos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862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foi projetado para oferecer os benefícios da Programação Orientada a Objetos (POO) sem comprometer a eficiência de execução próxima ao hardware.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86200" cy="9144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914400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28650" y="1651629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8650" y="1851654"/>
            <a:ext cx="37719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Diferente de linguagens puras, o C++ permite o uso de abstrações complexas com custo de execução zero ou mínimo (Zero-overhead principle).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7231" y="27089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Abstração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7231" y="2908929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Modelagem de entidades do mundo real através de classes e interfaces.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7231" y="348042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Encapsulamento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7231" y="3680454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Controle de acesso rigoroso via modificadores public, private e protected.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7231" y="425195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Herança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7231" y="4451979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Reaproveitamento e extensão de código através de hierarquias de classes.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07231" y="502347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Polimorfismo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7231" y="52235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Flexibilidade via funções virtuais e sobrecarga de operadores.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86300" y="880104"/>
            <a:ext cx="3886200" cy="1143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298" y="1237292"/>
            <a:ext cx="482203" cy="42862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194554"/>
            <a:ext cx="3886200" cy="17145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86300" y="3966204"/>
            <a:ext cx="38862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Benchmarks de Performance de Linguagens, 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Aplicabilidade do C++ no Mundo Real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862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permanece como a espinha dorsal da infraestrutura tecnológica global, sendo insubstituível em cenários de missão crítica.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86200" cy="7143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714375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28650" y="1651629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8650" y="1851654"/>
            <a:ext cx="3771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Onde quer que a latência precise ser mínima e o controle sobre a memória precise ser total, o C++ é a ferramenta definitiva.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7231" y="250887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Desenvolvimento de Jogos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7231" y="2708904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Base da Unreal Engine e de quase todos os motores gráficos AAA modernos.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7231" y="32804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Sistemas Operacionais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7231" y="348042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Núcleos do Windows, macOS e partes críticas do Linux e Android.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07231" y="379475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Finanças de Alta Frequência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7231" y="399477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Sistemas de trading que executam milhares de ordens em microssegundos.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07231" y="43091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Sistemas Embarcados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7231" y="450912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Software para carros autônomos, sondas espaciais e dispositivos médicos.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86300" y="880104"/>
            <a:ext cx="3886200" cy="1143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088" y="1237292"/>
            <a:ext cx="428625" cy="42862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194554"/>
            <a:ext cx="3886200" cy="17145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86300" y="3966204"/>
            <a:ext cx="38862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Stack Overflow Developer Survey &amp; TIOBE Index, 2025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Mapeamento dos Pilares da POO no C++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937254"/>
            <a:ext cx="3914775" cy="1700213"/>
          </a:xfrm>
          <a:prstGeom prst="rect">
            <a:avLst/>
          </a:prstGeom>
          <a:solidFill>
            <a:srgbClr val="F8F9FA"/>
          </a:solidFill>
          <a:ln w="18288">
            <a:solidFill>
              <a:srgbClr val="E1EB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14375" y="1080129"/>
            <a:ext cx="74830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Abstração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4375" y="1423029"/>
            <a:ext cx="36290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utiliza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Classes Abstratas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e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Funções Virtuais Puras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(= 0) para definir interfaces. Isso permite focar no "o que" um objeto faz, escondendo o "como" ele faz.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657725" y="937254"/>
            <a:ext cx="3914775" cy="1700213"/>
          </a:xfrm>
          <a:prstGeom prst="rect">
            <a:avLst/>
          </a:prstGeom>
          <a:solidFill>
            <a:srgbClr val="F8F9FA"/>
          </a:solidFill>
          <a:ln w="18288">
            <a:solidFill>
              <a:srgbClr val="E1EB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800600" y="1080129"/>
            <a:ext cx="123229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Encapsulamento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00600" y="1423029"/>
            <a:ext cx="36290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Implementado através de modificadores de acesso: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public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,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private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e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protected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. Garante a integridade dos dados ao restringir o acesso direto aos atributos da classe.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2808917"/>
            <a:ext cx="3914775" cy="1700213"/>
          </a:xfrm>
          <a:prstGeom prst="rect">
            <a:avLst/>
          </a:prstGeom>
          <a:solidFill>
            <a:srgbClr val="F8F9FA"/>
          </a:solidFill>
          <a:ln w="18288">
            <a:solidFill>
              <a:srgbClr val="E1EB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14375" y="2951792"/>
            <a:ext cx="61793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Herança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4375" y="3294692"/>
            <a:ext cx="36290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Permite que classes derivem propriedades de outras. O C++ suporta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Herança Múltipla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, permitindo que uma classe herde comportamentos de diversas bases simultaneamente.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57725" y="2808917"/>
            <a:ext cx="3914775" cy="1700213"/>
          </a:xfrm>
          <a:prstGeom prst="rect">
            <a:avLst/>
          </a:prstGeom>
          <a:solidFill>
            <a:srgbClr val="F8F9FA"/>
          </a:solidFill>
          <a:ln w="18288">
            <a:solidFill>
              <a:srgbClr val="E1EB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800600" y="2951792"/>
            <a:ext cx="101977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Polimorfismo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3294692"/>
            <a:ext cx="36290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Manifesta-se de duas formas: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Estático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(sobrecarga de funções e templates) e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Dinâmico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(funções virtuais e sobrescrita), permitindo que uma mesma interface trate diferentes tipos de dados.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</Words>
  <Application>Microsoft Office PowerPoint</Application>
  <PresentationFormat>Apresentação na tela (16:9)</PresentationFormat>
  <Paragraphs>86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Crimson Text</vt:lpstr>
      <vt:lpstr>Crimson Text Bold</vt:lpstr>
      <vt:lpstr>Crimson Text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VANDERSON NUNES DOS SANTOS</cp:lastModifiedBy>
  <cp:revision>2</cp:revision>
  <dcterms:created xsi:type="dcterms:W3CDTF">2026-05-11T18:47:43Z</dcterms:created>
  <dcterms:modified xsi:type="dcterms:W3CDTF">2026-05-11T18:49:06Z</dcterms:modified>
</cp:coreProperties>
</file>